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Today I will present the target architecture for the clinic booking platform. We will go from the problems of today's system to the domain design, the main flows and the deployment on the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problems and the proposed solution. Then the domain design and the use cases. Then the logical and process views with the booking saga, the core patterns, the deployment, and finally the technology and the key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system has five problems. Double bookings, because schedules live in spreadsheets: in the new design, the scheduling service is the only owner of slots. Booking by phone only: patients will book on web and mobile. One deployable and one database: we split the platform into one service per subdomain. A hanging payment partner blocks everyone: partner calls are isolated, and the outbox keeps every step safe to retry. And reminders by hand: the notification service sends them from appointment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groups of users. Patients find a doctor, book, pay a deposit, check insurance cover, get reminders and manage their appointments. Clinic staff manage schedules, check patients in and handle cancellations. Administrators manage clinics, staff, reports and reminder templates.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split the domain into eight subdomains. Scheduling and appointments are the core: they hold the slots and the booking flow, which is where the business wins or loses. Clinic directory, insurance verification, notifications and reporting support them. Payments and identity are generic, so we use managed services behind our own small services. Each subdomain has exactly one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context map shows who depends on whom. Appointments is downstream of scheduling for slot holds, of payments for the deposit, of insurance verification for cover checks, and of identity for the patient. Appointments is upstream of notifications and reporting, and it talks to them only through domain events. Scheduling depends on the clinic directory for doctors and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subdomain protects its rules in an aggregate. The appointment is at the centre. Reminders, insurance checks and payments refer to it by appointment ID. The appointment refers to the patient account and the doctor schedule by ID, never by a shared table. Reporting has no aggregate: it only builds read models from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patients, the main use case is booking an appointment. It always includes paying the deposit, through the card payment provider, and it can be extended by an insurance check with the insurer. Patients also find doctors, view and reschedule appointments and receive reminders.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Receptionists manage doctor schedules, check patients in, and handle cancellations, which may refund the deposit through the payment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Administrators manage clinics and services, staff and roles through the corporate identity provider, utilisation reports and reminder templates.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numbers. The patient app signs in with the identity provider and gets a token. Every request goes through the API gateway, which checks the token and routes to the owning service. Services send commands and events through the message broker, and each service owns its own database. Calls to partners, for payment, insurance and messages, always leave from one service, and staff sign in through the corporate identity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flow. The appointment service saves the booking as pending, with an idempotency key. It asks scheduling to hold the slot for ten minutes. It checks insurance cover when the service needs it, then asks payments to collect the deposit with the same key. When the deposit is captured, it commits the slot and tells notifications that the appointment is confirmed. Every step is a message through the outbox, so a retry never books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failure: the slot is already taken. Scheduling answers that the hold failed. The appointment service compensates: it cancels the pending appointment and offers the patient the next free slots.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failure: the payment provider times out. Payments reconciles later with the same key. If the hold expires unpaid, the slot is released. If the payment succeeds after the hold expired, the deposit is refunded in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follows zero trust. Patients sign in and get a token, and staff federate through the corporate identity provider. Every call carries the token. The gateway validates it, and each service checks roles and resources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service emits traces, metrics and structured logs. The trace context travels with commands and events through the outbox, so one trace follows a booking end to end, and alarms notify the on-call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outbound call has a timeout, retries with backoff and jitter, and a circuit breaker. When the insurer is down and the circuit is open, we book without the check and verify later, so a partner problem no longer stops booking.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system from left to right. Three clients, the gateway and identity provider at the edge, the eight services in the middle, each with its own data, the message broker as a managed service, and the four external partners on the right. The physical view uses exactly the same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AWS, everything runs in one region across two availability zones. The edge sits in a public subnet behind API Gateway and Cognito. Services run on Fargate in a private app subnet. Aurora, ElastiCache and OpenSearch sit in a data subnet with no internet route. Databases accept only the service tasks, and AWS services are reached through VPC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follows the design. React for all three clients. A managed edge with API Gateway. Java and Spring Boot for the services, because the saga and the outbox need solid transaction, resilience and tracing libraries. FIFO queues keep messages in order per appointment. Every data store is managed, and Fargate scales out for the Monday morning peak without a cluster to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decisions shape the design. The two most important: one service per subdomain, which costs us more services to run but lets each area release on its own; and the orchestrated saga with outbox and idempotency keys, which accepts eventual consistency in exchange for no double bookings and safe retries. Every decision lists the alternatives we rejected and the trade-off we accept.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68735"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68735"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68"/>
        </a:solidFill>
      </p:bgPr>
    </p:bg>
    <p:spTree>
      <p:nvGrpSpPr>
        <p:cNvPr id="1" name=""/>
        <p:cNvGrpSpPr/>
        <p:nvPr/>
      </p:nvGrpSpPr>
      <p:grpSpPr>
        <a:xfrm>
          <a:off x="0" y="0"/>
          <a:ext cx="0" cy="0"/>
          <a:chOff x="0" y="0"/>
          <a:chExt cx="0" cy="0"/>
        </a:xfrm>
      </p:grpSpPr>
      <p:sp>
        <p:nvSpPr>
          <p:cNvPr id="2" name="Shape 0"/>
          <p:cNvSpPr/>
          <p:nvPr/>
        </p:nvSpPr>
        <p:spPr>
          <a:xfrm>
            <a:off x="8001000" y="1920240"/>
            <a:ext cx="0" cy="2468880"/>
          </a:xfrm>
          <a:prstGeom prst="line">
            <a:avLst/>
          </a:prstGeom>
          <a:noFill/>
          <a:ln w="38100">
            <a:solidFill>
              <a:srgbClr val="C2185B"/>
            </a:solidFill>
            <a:prstDash val="solid"/>
          </a:ln>
        </p:spPr>
      </p:sp>
      <p:sp>
        <p:nvSpPr>
          <p:cNvPr id="3" name="Title"/>
          <p:cNvSpPr/>
          <p:nvPr/>
        </p:nvSpPr>
        <p:spPr>
          <a:xfrm>
            <a:off x="530352" y="1828800"/>
            <a:ext cx="7223760" cy="1828800"/>
          </a:xfrm>
          <a:prstGeom prst="rect">
            <a:avLst/>
          </a:prstGeom>
          <a:noFill/>
          <a:ln/>
        </p:spPr>
        <p:txBody>
          <a:bodyPr wrap="square" lIns="0" tIns="0" rIns="0" bIns="0" rtlCol="0" anchor="b"/>
          <a:lstStyle/>
          <a:p>
            <a:pPr indent="0" marL="0">
              <a:buNone/>
            </a:pPr>
            <a:r>
              <a:rPr lang="en-US" sz="4000" b="1" dirty="0">
                <a:solidFill>
                  <a:srgbClr val="FFFFFF"/>
                </a:solidFill>
                <a:latin typeface="Calibri" pitchFamily="34" charset="0"/>
                <a:ea typeface="Calibri" pitchFamily="34" charset="-122"/>
                <a:cs typeface="Calibri" pitchFamily="34" charset="-120"/>
              </a:rPr>
              <a:t>Clinic booking platform</a:t>
            </a:r>
            <a:endParaRPr lang="en-US" sz="4000" dirty="0"/>
          </a:p>
        </p:txBody>
      </p:sp>
      <p:sp>
        <p:nvSpPr>
          <p:cNvPr id="4" name="Message"/>
          <p:cNvSpPr/>
          <p:nvPr/>
        </p:nvSpPr>
        <p:spPr>
          <a:xfrm>
            <a:off x="530352" y="3794760"/>
            <a:ext cx="7223760" cy="411480"/>
          </a:xfrm>
          <a:prstGeom prst="rect">
            <a:avLst/>
          </a:prstGeom>
          <a:noFill/>
          <a:ln/>
        </p:spPr>
        <p:txBody>
          <a:bodyPr wrap="square" lIns="0" tIns="0" rIns="0" bIns="0" rtlCol="0" anchor="ctr"/>
          <a:lstStyle/>
          <a:p>
            <a:pPr indent="0" marL="0">
              <a:buNone/>
            </a:pPr>
            <a:r>
              <a:rPr lang="en-US" sz="1800" dirty="0">
                <a:solidFill>
                  <a:srgbClr val="E4E8F4"/>
                </a:solidFill>
                <a:latin typeface="Calibri" pitchFamily="34" charset="0"/>
                <a:ea typeface="Calibri" pitchFamily="34" charset="-122"/>
                <a:cs typeface="Calibri" pitchFamily="34" charset="-120"/>
              </a:rPr>
              <a:t>Target architecture for online booking</a:t>
            </a:r>
            <a:endParaRPr lang="en-US" sz="1800" dirty="0"/>
          </a:p>
        </p:txBody>
      </p:sp>
      <p:sp>
        <p:nvSpPr>
          <p:cNvPr id="5" name="Text 3"/>
          <p:cNvSpPr/>
          <p:nvPr/>
        </p:nvSpPr>
        <p:spPr>
          <a:xfrm>
            <a:off x="530352" y="4251960"/>
            <a:ext cx="7223760" cy="731520"/>
          </a:xfrm>
          <a:prstGeom prst="rect">
            <a:avLst/>
          </a:prstGeom>
          <a:noFill/>
          <a:ln/>
        </p:spPr>
        <p:txBody>
          <a:bodyPr wrap="square" lIns="0" tIns="0" rIns="0" bIns="0" rtlCol="0" anchor="t"/>
          <a:lstStyle/>
          <a:p>
            <a:pPr indent="0" marL="0">
              <a:buNone/>
            </a:pPr>
            <a:r>
              <a:rPr lang="en-US" sz="1600" dirty="0">
                <a:solidFill>
                  <a:srgbClr val="E4E8F4"/>
                </a:solidFill>
                <a:latin typeface="Calibri" pitchFamily="34" charset="0"/>
                <a:ea typeface="Calibri" pitchFamily="34" charset="-122"/>
                <a:cs typeface="Calibri" pitchFamily="34" charset="-120"/>
              </a:rPr>
              <a:t>Solution architect</a:t>
            </a:r>
            <a:endParaRPr lang="en-US" sz="1600" dirty="0"/>
          </a:p>
          <a:p>
            <a:pPr indent="0" marL="0">
              <a:buNone/>
            </a:pPr>
            <a:r>
              <a:rPr lang="en-US" sz="1600" dirty="0">
                <a:solidFill>
                  <a:srgbClr val="E4E8F4"/>
                </a:solidFill>
                <a:latin typeface="Calibri" pitchFamily="34" charset="0"/>
                <a:ea typeface="Calibri" pitchFamily="34" charset="-122"/>
                <a:cs typeface="Calibri" pitchFamily="34" charset="-120"/>
              </a:rPr>
              <a:t>2026-10-16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p:nvPr/>
        </p:nvSpPr>
        <p:spPr>
          <a:xfrm>
            <a:off x="411480" y="182880"/>
            <a:ext cx="11368735" cy="548640"/>
          </a:xfrm>
          <a:prstGeom prst="rect">
            <a:avLst/>
          </a:prstGeom>
          <a:noFill/>
          <a:ln/>
        </p:spPr>
        <p:txBody>
          <a:bodyPr wrap="square" lIns="0" tIns="0" rIns="0" bIns="0" rtlCol="0" anchor="ctr"/>
          <a:lstStyle/>
          <a:p>
            <a:pPr indent="0" marL="0">
              <a:buNone/>
            </a:pPr>
            <a:r>
              <a:rPr lang="en-US" sz="2800" b="1" dirty="0">
                <a:solidFill>
                  <a:srgbClr val="1F3A68"/>
                </a:solidFill>
                <a:latin typeface="Calibri" pitchFamily="34" charset="0"/>
                <a:ea typeface="Calibri" pitchFamily="34" charset="-122"/>
                <a:cs typeface="Calibri" pitchFamily="34" charset="-120"/>
              </a:rPr>
              <a:t>Agenda</a:t>
            </a:r>
            <a:endParaRPr lang="en-US" sz="2800" dirty="0"/>
          </a:p>
        </p:txBody>
      </p:sp>
      <p:sp>
        <p:nvSpPr>
          <p:cNvPr id="3" name="Message"/>
          <p:cNvSpPr/>
          <p:nvPr/>
        </p:nvSpPr>
        <p:spPr>
          <a:xfrm>
            <a:off x="411480" y="731520"/>
            <a:ext cx="11368735" cy="320040"/>
          </a:xfrm>
          <a:prstGeom prst="rect">
            <a:avLst/>
          </a:prstGeom>
          <a:noFill/>
          <a:ln/>
        </p:spPr>
        <p:txBody>
          <a:bodyPr wrap="square" lIns="0" tIns="0" rIns="0" bIns="0" rtlCol="0" anchor="ctr"/>
          <a:lstStyle/>
          <a:p>
            <a:pPr indent="0" marL="0">
              <a:buNone/>
            </a:pPr>
            <a:r>
              <a:rPr lang="en-US" sz="1500" dirty="0">
                <a:solidFill>
                  <a:srgbClr val="5A6478"/>
                </a:solidFill>
                <a:latin typeface="Calibri" pitchFamily="34" charset="0"/>
                <a:ea typeface="Calibri" pitchFamily="34" charset="-122"/>
                <a:cs typeface="Calibri" pitchFamily="34" charset="-120"/>
              </a:rPr>
              <a:t>From today's problems to the target architecture, following the 4+1 views</a:t>
            </a:r>
            <a:endParaRPr lang="en-US" sz="1500" dirty="0"/>
          </a:p>
        </p:txBody>
      </p:sp>
      <p:sp>
        <p:nvSpPr>
          <p:cNvPr id="4" name="Shape 2"/>
          <p:cNvSpPr/>
          <p:nvPr/>
        </p:nvSpPr>
        <p:spPr>
          <a:xfrm>
            <a:off x="594360" y="1536192"/>
            <a:ext cx="384048" cy="384048"/>
          </a:xfrm>
          <a:prstGeom prst="ellipse">
            <a:avLst/>
          </a:prstGeom>
          <a:solidFill>
            <a:srgbClr val="C2185B"/>
          </a:solidFill>
          <a:ln w="12700">
            <a:solidFill>
              <a:srgbClr val="C2185B"/>
            </a:solidFill>
            <a:prstDash val="solid"/>
          </a:ln>
        </p:spPr>
      </p:sp>
      <p:sp>
        <p:nvSpPr>
          <p:cNvPr id="5" name="Text 3"/>
          <p:cNvSpPr/>
          <p:nvPr/>
        </p:nvSpPr>
        <p:spPr>
          <a:xfrm>
            <a:off x="594360" y="153619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43000" y="1463040"/>
            <a:ext cx="4038448" cy="530352"/>
          </a:xfrm>
          <a:prstGeom prst="rect">
            <a:avLst/>
          </a:prstGeom>
          <a:noFill/>
          <a:ln/>
        </p:spPr>
        <p:txBody>
          <a:bodyPr wrap="square" lIns="0" tIns="0" rIns="0" bIns="0" rtlCol="0" anchor="ctr"/>
          <a:lstStyle/>
          <a:p>
            <a:pPr indent="0" marL="0">
              <a:buNone/>
            </a:pPr>
            <a:r>
              <a:rPr lang="en-US" sz="1900" b="1" dirty="0">
                <a:solidFill>
                  <a:srgbClr val="1F3A68"/>
                </a:solidFill>
                <a:latin typeface="Calibri" pitchFamily="34" charset="0"/>
                <a:ea typeface="Calibri" pitchFamily="34" charset="-122"/>
                <a:cs typeface="Calibri" pitchFamily="34" charset="-120"/>
              </a:rPr>
              <a:t>Introduction</a:t>
            </a:r>
            <a:endParaRPr lang="en-US" sz="1900" dirty="0"/>
          </a:p>
        </p:txBody>
      </p:sp>
      <p:sp>
        <p:nvSpPr>
          <p:cNvPr id="7" name="Text 5"/>
          <p:cNvSpPr/>
          <p:nvPr/>
        </p:nvSpPr>
        <p:spPr>
          <a:xfrm>
            <a:off x="5181448" y="1463040"/>
            <a:ext cx="731520" cy="530352"/>
          </a:xfrm>
          <a:prstGeom prst="rect">
            <a:avLst/>
          </a:prstGeom>
          <a:noFill/>
          <a:ln/>
        </p:spPr>
        <p:txBody>
          <a:bodyPr wrap="square" lIns="0" tIns="0" rIns="0" bIns="0" rtlCol="0" anchor="ctr"/>
          <a:lstStyle/>
          <a:p>
            <a:pPr algn="r" indent="0" marL="0">
              <a:buNone/>
            </a:pPr>
            <a:r>
              <a:rPr lang="en-US" sz="1300" dirty="0">
                <a:solidFill>
                  <a:srgbClr val="5A6478"/>
                </a:solidFill>
                <a:latin typeface="Calibri" pitchFamily="34" charset="0"/>
                <a:ea typeface="Calibri" pitchFamily="34" charset="-122"/>
                <a:cs typeface="Calibri" pitchFamily="34" charset="-120"/>
              </a:rPr>
              <a:t>3–4</a:t>
            </a:r>
            <a:endParaRPr lang="en-US" sz="1300" dirty="0"/>
          </a:p>
        </p:txBody>
      </p:sp>
      <p:sp>
        <p:nvSpPr>
          <p:cNvPr id="8" name="Shape 6"/>
          <p:cNvSpPr/>
          <p:nvPr/>
        </p:nvSpPr>
        <p:spPr>
          <a:xfrm>
            <a:off x="594360" y="2267712"/>
            <a:ext cx="384048" cy="384048"/>
          </a:xfrm>
          <a:prstGeom prst="ellipse">
            <a:avLst/>
          </a:prstGeom>
          <a:solidFill>
            <a:srgbClr val="C2185B"/>
          </a:solidFill>
          <a:ln w="12700">
            <a:solidFill>
              <a:srgbClr val="C2185B"/>
            </a:solidFill>
            <a:prstDash val="solid"/>
          </a:ln>
        </p:spPr>
      </p:sp>
      <p:sp>
        <p:nvSpPr>
          <p:cNvPr id="9" name="Text 7"/>
          <p:cNvSpPr/>
          <p:nvPr/>
        </p:nvSpPr>
        <p:spPr>
          <a:xfrm>
            <a:off x="594360" y="226771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143000" y="2194560"/>
            <a:ext cx="4038448" cy="530352"/>
          </a:xfrm>
          <a:prstGeom prst="rect">
            <a:avLst/>
          </a:prstGeom>
          <a:noFill/>
          <a:ln/>
        </p:spPr>
        <p:txBody>
          <a:bodyPr wrap="square" lIns="0" tIns="0" rIns="0" bIns="0" rtlCol="0" anchor="ctr"/>
          <a:lstStyle/>
          <a:p>
            <a:pPr indent="0" marL="0">
              <a:buNone/>
            </a:pPr>
            <a:r>
              <a:rPr lang="en-US" sz="1900" b="1" dirty="0">
                <a:solidFill>
                  <a:srgbClr val="1F3A68"/>
                </a:solidFill>
                <a:latin typeface="Calibri" pitchFamily="34" charset="0"/>
                <a:ea typeface="Calibri" pitchFamily="34" charset="-122"/>
                <a:cs typeface="Calibri" pitchFamily="34" charset="-120"/>
              </a:rPr>
              <a:t>Domain design</a:t>
            </a:r>
            <a:endParaRPr lang="en-US" sz="1900" dirty="0"/>
          </a:p>
        </p:txBody>
      </p:sp>
      <p:sp>
        <p:nvSpPr>
          <p:cNvPr id="11" name="Text 9"/>
          <p:cNvSpPr/>
          <p:nvPr/>
        </p:nvSpPr>
        <p:spPr>
          <a:xfrm>
            <a:off x="5181448" y="2194560"/>
            <a:ext cx="731520" cy="530352"/>
          </a:xfrm>
          <a:prstGeom prst="rect">
            <a:avLst/>
          </a:prstGeom>
          <a:noFill/>
          <a:ln/>
        </p:spPr>
        <p:txBody>
          <a:bodyPr wrap="square" lIns="0" tIns="0" rIns="0" bIns="0" rtlCol="0" anchor="ctr"/>
          <a:lstStyle/>
          <a:p>
            <a:pPr algn="r" indent="0" marL="0">
              <a:buNone/>
            </a:pPr>
            <a:r>
              <a:rPr lang="en-US" sz="1300" dirty="0">
                <a:solidFill>
                  <a:srgbClr val="5A6478"/>
                </a:solidFill>
                <a:latin typeface="Calibri" pitchFamily="34" charset="0"/>
                <a:ea typeface="Calibri" pitchFamily="34" charset="-122"/>
                <a:cs typeface="Calibri" pitchFamily="34" charset="-120"/>
              </a:rPr>
              <a:t>5–7</a:t>
            </a:r>
            <a:endParaRPr lang="en-US" sz="1300" dirty="0"/>
          </a:p>
        </p:txBody>
      </p:sp>
      <p:sp>
        <p:nvSpPr>
          <p:cNvPr id="12" name="Shape 10"/>
          <p:cNvSpPr/>
          <p:nvPr/>
        </p:nvSpPr>
        <p:spPr>
          <a:xfrm>
            <a:off x="594360" y="2999232"/>
            <a:ext cx="384048" cy="384048"/>
          </a:xfrm>
          <a:prstGeom prst="ellipse">
            <a:avLst/>
          </a:prstGeom>
          <a:solidFill>
            <a:srgbClr val="C2185B"/>
          </a:solidFill>
          <a:ln w="12700">
            <a:solidFill>
              <a:srgbClr val="C2185B"/>
            </a:solidFill>
            <a:prstDash val="solid"/>
          </a:ln>
        </p:spPr>
      </p:sp>
      <p:sp>
        <p:nvSpPr>
          <p:cNvPr id="13" name="Text 11"/>
          <p:cNvSpPr/>
          <p:nvPr/>
        </p:nvSpPr>
        <p:spPr>
          <a:xfrm>
            <a:off x="594360" y="299923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43000" y="2926080"/>
            <a:ext cx="4038448" cy="530352"/>
          </a:xfrm>
          <a:prstGeom prst="rect">
            <a:avLst/>
          </a:prstGeom>
          <a:noFill/>
          <a:ln/>
        </p:spPr>
        <p:txBody>
          <a:bodyPr wrap="square" lIns="0" tIns="0" rIns="0" bIns="0" rtlCol="0" anchor="ctr"/>
          <a:lstStyle/>
          <a:p>
            <a:pPr indent="0" marL="0">
              <a:buNone/>
            </a:pPr>
            <a:r>
              <a:rPr lang="en-US" sz="1900" b="1" dirty="0">
                <a:solidFill>
                  <a:srgbClr val="1F3A68"/>
                </a:solidFill>
                <a:latin typeface="Calibri" pitchFamily="34" charset="0"/>
                <a:ea typeface="Calibri" pitchFamily="34" charset="-122"/>
                <a:cs typeface="Calibri" pitchFamily="34" charset="-120"/>
              </a:rPr>
              <a:t>Use case view</a:t>
            </a:r>
            <a:endParaRPr lang="en-US" sz="1900" dirty="0"/>
          </a:p>
        </p:txBody>
      </p:sp>
      <p:sp>
        <p:nvSpPr>
          <p:cNvPr id="15" name="Text 13"/>
          <p:cNvSpPr/>
          <p:nvPr/>
        </p:nvSpPr>
        <p:spPr>
          <a:xfrm>
            <a:off x="5181448" y="2926080"/>
            <a:ext cx="731520" cy="530352"/>
          </a:xfrm>
          <a:prstGeom prst="rect">
            <a:avLst/>
          </a:prstGeom>
          <a:noFill/>
          <a:ln/>
        </p:spPr>
        <p:txBody>
          <a:bodyPr wrap="square" lIns="0" tIns="0" rIns="0" bIns="0" rtlCol="0" anchor="ctr"/>
          <a:lstStyle/>
          <a:p>
            <a:pPr algn="r" indent="0" marL="0">
              <a:buNone/>
            </a:pPr>
            <a:r>
              <a:rPr lang="en-US" sz="1300" dirty="0">
                <a:solidFill>
                  <a:srgbClr val="5A6478"/>
                </a:solidFill>
                <a:latin typeface="Calibri" pitchFamily="34" charset="0"/>
                <a:ea typeface="Calibri" pitchFamily="34" charset="-122"/>
                <a:cs typeface="Calibri" pitchFamily="34" charset="-120"/>
              </a:rPr>
              <a:t>8–10</a:t>
            </a:r>
            <a:endParaRPr lang="en-US" sz="1300" dirty="0"/>
          </a:p>
        </p:txBody>
      </p:sp>
      <p:sp>
        <p:nvSpPr>
          <p:cNvPr id="16" name="Shape 14"/>
          <p:cNvSpPr/>
          <p:nvPr/>
        </p:nvSpPr>
        <p:spPr>
          <a:xfrm>
            <a:off x="594360" y="3730752"/>
            <a:ext cx="384048" cy="384048"/>
          </a:xfrm>
          <a:prstGeom prst="ellipse">
            <a:avLst/>
          </a:prstGeom>
          <a:solidFill>
            <a:srgbClr val="C2185B"/>
          </a:solidFill>
          <a:ln w="12700">
            <a:solidFill>
              <a:srgbClr val="C2185B"/>
            </a:solidFill>
            <a:prstDash val="solid"/>
          </a:ln>
        </p:spPr>
      </p:sp>
      <p:sp>
        <p:nvSpPr>
          <p:cNvPr id="17" name="Text 15"/>
          <p:cNvSpPr/>
          <p:nvPr/>
        </p:nvSpPr>
        <p:spPr>
          <a:xfrm>
            <a:off x="594360" y="373075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143000" y="3657600"/>
            <a:ext cx="4038448" cy="530352"/>
          </a:xfrm>
          <a:prstGeom prst="rect">
            <a:avLst/>
          </a:prstGeom>
          <a:noFill/>
          <a:ln/>
        </p:spPr>
        <p:txBody>
          <a:bodyPr wrap="square" lIns="0" tIns="0" rIns="0" bIns="0" rtlCol="0" anchor="ctr"/>
          <a:lstStyle/>
          <a:p>
            <a:pPr indent="0" marL="0">
              <a:buNone/>
            </a:pPr>
            <a:r>
              <a:rPr lang="en-US" sz="1900" b="1" dirty="0">
                <a:solidFill>
                  <a:srgbClr val="1F3A68"/>
                </a:solidFill>
                <a:latin typeface="Calibri" pitchFamily="34" charset="0"/>
                <a:ea typeface="Calibri" pitchFamily="34" charset="-122"/>
                <a:cs typeface="Calibri" pitchFamily="34" charset="-120"/>
              </a:rPr>
              <a:t>Logical view</a:t>
            </a:r>
            <a:endParaRPr lang="en-US" sz="1900" dirty="0"/>
          </a:p>
        </p:txBody>
      </p:sp>
      <p:sp>
        <p:nvSpPr>
          <p:cNvPr id="19" name="Text 17"/>
          <p:cNvSpPr/>
          <p:nvPr/>
        </p:nvSpPr>
        <p:spPr>
          <a:xfrm>
            <a:off x="5181448" y="3657600"/>
            <a:ext cx="731520" cy="530352"/>
          </a:xfrm>
          <a:prstGeom prst="rect">
            <a:avLst/>
          </a:prstGeom>
          <a:noFill/>
          <a:ln/>
        </p:spPr>
        <p:txBody>
          <a:bodyPr wrap="square" lIns="0" tIns="0" rIns="0" bIns="0" rtlCol="0" anchor="ctr"/>
          <a:lstStyle/>
          <a:p>
            <a:pPr algn="r" indent="0" marL="0">
              <a:buNone/>
            </a:pPr>
            <a:r>
              <a:rPr lang="en-US" sz="1300" dirty="0">
                <a:solidFill>
                  <a:srgbClr val="5A6478"/>
                </a:solidFill>
                <a:latin typeface="Calibri" pitchFamily="34" charset="0"/>
                <a:ea typeface="Calibri" pitchFamily="34" charset="-122"/>
                <a:cs typeface="Calibri" pitchFamily="34" charset="-120"/>
              </a:rPr>
              <a:t>11</a:t>
            </a:r>
            <a:endParaRPr lang="en-US" sz="1300" dirty="0"/>
          </a:p>
        </p:txBody>
      </p:sp>
      <p:sp>
        <p:nvSpPr>
          <p:cNvPr id="20" name="Shape 18"/>
          <p:cNvSpPr/>
          <p:nvPr/>
        </p:nvSpPr>
        <p:spPr>
          <a:xfrm>
            <a:off x="594360" y="4462272"/>
            <a:ext cx="384048" cy="384048"/>
          </a:xfrm>
          <a:prstGeom prst="ellipse">
            <a:avLst/>
          </a:prstGeom>
          <a:solidFill>
            <a:srgbClr val="C2185B"/>
          </a:solidFill>
          <a:ln w="12700">
            <a:solidFill>
              <a:srgbClr val="C2185B"/>
            </a:solidFill>
            <a:prstDash val="solid"/>
          </a:ln>
        </p:spPr>
      </p:sp>
      <p:sp>
        <p:nvSpPr>
          <p:cNvPr id="21" name="Text 19"/>
          <p:cNvSpPr/>
          <p:nvPr/>
        </p:nvSpPr>
        <p:spPr>
          <a:xfrm>
            <a:off x="594360" y="446227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Text 20"/>
          <p:cNvSpPr/>
          <p:nvPr/>
        </p:nvSpPr>
        <p:spPr>
          <a:xfrm>
            <a:off x="1143000" y="4389120"/>
            <a:ext cx="4038448" cy="530352"/>
          </a:xfrm>
          <a:prstGeom prst="rect">
            <a:avLst/>
          </a:prstGeom>
          <a:noFill/>
          <a:ln/>
        </p:spPr>
        <p:txBody>
          <a:bodyPr wrap="square" lIns="0" tIns="0" rIns="0" bIns="0" rtlCol="0" anchor="ctr"/>
          <a:lstStyle/>
          <a:p>
            <a:pPr indent="0" marL="0">
              <a:buNone/>
            </a:pPr>
            <a:r>
              <a:rPr lang="en-US" sz="1900" b="1" dirty="0">
                <a:solidFill>
                  <a:srgbClr val="1F3A68"/>
                </a:solidFill>
                <a:latin typeface="Calibri" pitchFamily="34" charset="0"/>
                <a:ea typeface="Calibri" pitchFamily="34" charset="-122"/>
                <a:cs typeface="Calibri" pitchFamily="34" charset="-120"/>
              </a:rPr>
              <a:t>Process view</a:t>
            </a:r>
            <a:endParaRPr lang="en-US" sz="1900" dirty="0"/>
          </a:p>
        </p:txBody>
      </p:sp>
      <p:sp>
        <p:nvSpPr>
          <p:cNvPr id="23" name="Text 21"/>
          <p:cNvSpPr/>
          <p:nvPr/>
        </p:nvSpPr>
        <p:spPr>
          <a:xfrm>
            <a:off x="5181448" y="4389120"/>
            <a:ext cx="731520" cy="530352"/>
          </a:xfrm>
          <a:prstGeom prst="rect">
            <a:avLst/>
          </a:prstGeom>
          <a:noFill/>
          <a:ln/>
        </p:spPr>
        <p:txBody>
          <a:bodyPr wrap="square" lIns="0" tIns="0" rIns="0" bIns="0" rtlCol="0" anchor="ctr"/>
          <a:lstStyle/>
          <a:p>
            <a:pPr algn="r" indent="0" marL="0">
              <a:buNone/>
            </a:pPr>
            <a:r>
              <a:rPr lang="en-US" sz="1300" dirty="0">
                <a:solidFill>
                  <a:srgbClr val="5A6478"/>
                </a:solidFill>
                <a:latin typeface="Calibri" pitchFamily="34" charset="0"/>
                <a:ea typeface="Calibri" pitchFamily="34" charset="-122"/>
                <a:cs typeface="Calibri" pitchFamily="34" charset="-120"/>
              </a:rPr>
              <a:t>12–14</a:t>
            </a:r>
            <a:endParaRPr lang="en-US" sz="1300" dirty="0"/>
          </a:p>
        </p:txBody>
      </p:sp>
      <p:sp>
        <p:nvSpPr>
          <p:cNvPr id="24" name="Shape 22"/>
          <p:cNvSpPr/>
          <p:nvPr/>
        </p:nvSpPr>
        <p:spPr>
          <a:xfrm>
            <a:off x="6553048" y="1536192"/>
            <a:ext cx="384048" cy="384048"/>
          </a:xfrm>
          <a:prstGeom prst="ellipse">
            <a:avLst/>
          </a:prstGeom>
          <a:solidFill>
            <a:srgbClr val="C2185B"/>
          </a:solidFill>
          <a:ln w="12700">
            <a:solidFill>
              <a:srgbClr val="C2185B"/>
            </a:solidFill>
            <a:prstDash val="solid"/>
          </a:ln>
        </p:spPr>
      </p:sp>
      <p:sp>
        <p:nvSpPr>
          <p:cNvPr id="25" name="Text 23"/>
          <p:cNvSpPr/>
          <p:nvPr/>
        </p:nvSpPr>
        <p:spPr>
          <a:xfrm>
            <a:off x="6553048" y="153619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6" name="Text 24"/>
          <p:cNvSpPr/>
          <p:nvPr/>
        </p:nvSpPr>
        <p:spPr>
          <a:xfrm>
            <a:off x="7101688" y="1463040"/>
            <a:ext cx="4038448" cy="530352"/>
          </a:xfrm>
          <a:prstGeom prst="rect">
            <a:avLst/>
          </a:prstGeom>
          <a:noFill/>
          <a:ln/>
        </p:spPr>
        <p:txBody>
          <a:bodyPr wrap="square" lIns="0" tIns="0" rIns="0" bIns="0" rtlCol="0" anchor="ctr"/>
          <a:lstStyle/>
          <a:p>
            <a:pPr indent="0" marL="0">
              <a:buNone/>
            </a:pPr>
            <a:r>
              <a:rPr lang="en-US" sz="1900" b="1" dirty="0">
                <a:solidFill>
                  <a:srgbClr val="1F3A68"/>
                </a:solidFill>
                <a:latin typeface="Calibri" pitchFamily="34" charset="0"/>
                <a:ea typeface="Calibri" pitchFamily="34" charset="-122"/>
                <a:cs typeface="Calibri" pitchFamily="34" charset="-120"/>
              </a:rPr>
              <a:t>Core patterns</a:t>
            </a:r>
            <a:endParaRPr lang="en-US" sz="1900" dirty="0"/>
          </a:p>
        </p:txBody>
      </p:sp>
      <p:sp>
        <p:nvSpPr>
          <p:cNvPr id="27" name="Text 25"/>
          <p:cNvSpPr/>
          <p:nvPr/>
        </p:nvSpPr>
        <p:spPr>
          <a:xfrm>
            <a:off x="11140135" y="1463040"/>
            <a:ext cx="731520" cy="530352"/>
          </a:xfrm>
          <a:prstGeom prst="rect">
            <a:avLst/>
          </a:prstGeom>
          <a:noFill/>
          <a:ln/>
        </p:spPr>
        <p:txBody>
          <a:bodyPr wrap="square" lIns="0" tIns="0" rIns="0" bIns="0" rtlCol="0" anchor="ctr"/>
          <a:lstStyle/>
          <a:p>
            <a:pPr algn="r" indent="0" marL="0">
              <a:buNone/>
            </a:pPr>
            <a:r>
              <a:rPr lang="en-US" sz="1300" dirty="0">
                <a:solidFill>
                  <a:srgbClr val="5A6478"/>
                </a:solidFill>
                <a:latin typeface="Calibri" pitchFamily="34" charset="0"/>
                <a:ea typeface="Calibri" pitchFamily="34" charset="-122"/>
                <a:cs typeface="Calibri" pitchFamily="34" charset="-120"/>
              </a:rPr>
              <a:t>15–17</a:t>
            </a:r>
            <a:endParaRPr lang="en-US" sz="1300" dirty="0"/>
          </a:p>
        </p:txBody>
      </p:sp>
      <p:sp>
        <p:nvSpPr>
          <p:cNvPr id="28" name="Shape 26"/>
          <p:cNvSpPr/>
          <p:nvPr/>
        </p:nvSpPr>
        <p:spPr>
          <a:xfrm>
            <a:off x="6553048" y="2267712"/>
            <a:ext cx="384048" cy="384048"/>
          </a:xfrm>
          <a:prstGeom prst="ellipse">
            <a:avLst/>
          </a:prstGeom>
          <a:solidFill>
            <a:srgbClr val="C2185B"/>
          </a:solidFill>
          <a:ln w="12700">
            <a:solidFill>
              <a:srgbClr val="C2185B"/>
            </a:solidFill>
            <a:prstDash val="solid"/>
          </a:ln>
        </p:spPr>
      </p:sp>
      <p:sp>
        <p:nvSpPr>
          <p:cNvPr id="29" name="Text 27"/>
          <p:cNvSpPr/>
          <p:nvPr/>
        </p:nvSpPr>
        <p:spPr>
          <a:xfrm>
            <a:off x="6553048" y="226771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0" name="Text 28"/>
          <p:cNvSpPr/>
          <p:nvPr/>
        </p:nvSpPr>
        <p:spPr>
          <a:xfrm>
            <a:off x="7101688" y="2194560"/>
            <a:ext cx="4038448" cy="530352"/>
          </a:xfrm>
          <a:prstGeom prst="rect">
            <a:avLst/>
          </a:prstGeom>
          <a:noFill/>
          <a:ln/>
        </p:spPr>
        <p:txBody>
          <a:bodyPr wrap="square" lIns="0" tIns="0" rIns="0" bIns="0" rtlCol="0" anchor="ctr"/>
          <a:lstStyle/>
          <a:p>
            <a:pPr indent="0" marL="0">
              <a:buNone/>
            </a:pPr>
            <a:r>
              <a:rPr lang="en-US" sz="1900" b="1" dirty="0">
                <a:solidFill>
                  <a:srgbClr val="1F3A68"/>
                </a:solidFill>
                <a:latin typeface="Calibri" pitchFamily="34" charset="0"/>
                <a:ea typeface="Calibri" pitchFamily="34" charset="-122"/>
                <a:cs typeface="Calibri" pitchFamily="34" charset="-120"/>
              </a:rPr>
              <a:t>High-level and physical view</a:t>
            </a:r>
            <a:endParaRPr lang="en-US" sz="1900" dirty="0"/>
          </a:p>
        </p:txBody>
      </p:sp>
      <p:sp>
        <p:nvSpPr>
          <p:cNvPr id="31" name="Text 29"/>
          <p:cNvSpPr/>
          <p:nvPr/>
        </p:nvSpPr>
        <p:spPr>
          <a:xfrm>
            <a:off x="11140135" y="2194560"/>
            <a:ext cx="731520" cy="530352"/>
          </a:xfrm>
          <a:prstGeom prst="rect">
            <a:avLst/>
          </a:prstGeom>
          <a:noFill/>
          <a:ln/>
        </p:spPr>
        <p:txBody>
          <a:bodyPr wrap="square" lIns="0" tIns="0" rIns="0" bIns="0" rtlCol="0" anchor="ctr"/>
          <a:lstStyle/>
          <a:p>
            <a:pPr algn="r" indent="0" marL="0">
              <a:buNone/>
            </a:pPr>
            <a:r>
              <a:rPr lang="en-US" sz="1300" dirty="0">
                <a:solidFill>
                  <a:srgbClr val="5A6478"/>
                </a:solidFill>
                <a:latin typeface="Calibri" pitchFamily="34" charset="0"/>
                <a:ea typeface="Calibri" pitchFamily="34" charset="-122"/>
                <a:cs typeface="Calibri" pitchFamily="34" charset="-120"/>
              </a:rPr>
              <a:t>18–19</a:t>
            </a:r>
            <a:endParaRPr lang="en-US" sz="1300" dirty="0"/>
          </a:p>
        </p:txBody>
      </p:sp>
      <p:sp>
        <p:nvSpPr>
          <p:cNvPr id="32" name="Shape 30"/>
          <p:cNvSpPr/>
          <p:nvPr/>
        </p:nvSpPr>
        <p:spPr>
          <a:xfrm>
            <a:off x="6553048" y="2999232"/>
            <a:ext cx="384048" cy="384048"/>
          </a:xfrm>
          <a:prstGeom prst="ellipse">
            <a:avLst/>
          </a:prstGeom>
          <a:solidFill>
            <a:srgbClr val="C2185B"/>
          </a:solidFill>
          <a:ln w="12700">
            <a:solidFill>
              <a:srgbClr val="C2185B"/>
            </a:solidFill>
            <a:prstDash val="solid"/>
          </a:ln>
        </p:spPr>
      </p:sp>
      <p:sp>
        <p:nvSpPr>
          <p:cNvPr id="33" name="Text 31"/>
          <p:cNvSpPr/>
          <p:nvPr/>
        </p:nvSpPr>
        <p:spPr>
          <a:xfrm>
            <a:off x="6553048" y="299923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34" name="Text 32"/>
          <p:cNvSpPr/>
          <p:nvPr/>
        </p:nvSpPr>
        <p:spPr>
          <a:xfrm>
            <a:off x="7101688" y="2926080"/>
            <a:ext cx="4038448" cy="530352"/>
          </a:xfrm>
          <a:prstGeom prst="rect">
            <a:avLst/>
          </a:prstGeom>
          <a:noFill/>
          <a:ln/>
        </p:spPr>
        <p:txBody>
          <a:bodyPr wrap="square" lIns="0" tIns="0" rIns="0" bIns="0" rtlCol="0" anchor="ctr"/>
          <a:lstStyle/>
          <a:p>
            <a:pPr indent="0" marL="0">
              <a:buNone/>
            </a:pPr>
            <a:r>
              <a:rPr lang="en-US" sz="1900" b="1" dirty="0">
                <a:solidFill>
                  <a:srgbClr val="1F3A68"/>
                </a:solidFill>
                <a:latin typeface="Calibri" pitchFamily="34" charset="0"/>
                <a:ea typeface="Calibri" pitchFamily="34" charset="-122"/>
                <a:cs typeface="Calibri" pitchFamily="34" charset="-120"/>
              </a:rPr>
              <a:t>Development view</a:t>
            </a:r>
            <a:endParaRPr lang="en-US" sz="1900" dirty="0"/>
          </a:p>
        </p:txBody>
      </p:sp>
      <p:sp>
        <p:nvSpPr>
          <p:cNvPr id="35" name="Text 33"/>
          <p:cNvSpPr/>
          <p:nvPr/>
        </p:nvSpPr>
        <p:spPr>
          <a:xfrm>
            <a:off x="11140135" y="2926080"/>
            <a:ext cx="731520" cy="530352"/>
          </a:xfrm>
          <a:prstGeom prst="rect">
            <a:avLst/>
          </a:prstGeom>
          <a:noFill/>
          <a:ln/>
        </p:spPr>
        <p:txBody>
          <a:bodyPr wrap="square" lIns="0" tIns="0" rIns="0" bIns="0" rtlCol="0" anchor="ctr"/>
          <a:lstStyle/>
          <a:p>
            <a:pPr algn="r" indent="0" marL="0">
              <a:buNone/>
            </a:pPr>
            <a:r>
              <a:rPr lang="en-US" sz="1300" dirty="0">
                <a:solidFill>
                  <a:srgbClr val="5A6478"/>
                </a:solidFill>
                <a:latin typeface="Calibri" pitchFamily="34" charset="0"/>
                <a:ea typeface="Calibri" pitchFamily="34" charset="-122"/>
                <a:cs typeface="Calibri" pitchFamily="34" charset="-120"/>
              </a:rPr>
              <a:t>20–21</a:t>
            </a:r>
            <a:endParaRPr lang="en-US" sz="1300" dirty="0"/>
          </a:p>
        </p:txBody>
      </p:sp>
      <p:sp>
        <p:nvSpPr>
          <p:cNvPr id="36" name="Shape 34"/>
          <p:cNvSpPr/>
          <p:nvPr/>
        </p:nvSpPr>
        <p:spPr>
          <a:xfrm>
            <a:off x="6553048" y="3730752"/>
            <a:ext cx="384048" cy="384048"/>
          </a:xfrm>
          <a:prstGeom prst="ellipse">
            <a:avLst/>
          </a:prstGeom>
          <a:solidFill>
            <a:srgbClr val="C2185B"/>
          </a:solidFill>
          <a:ln w="12700">
            <a:solidFill>
              <a:srgbClr val="C2185B"/>
            </a:solidFill>
            <a:prstDash val="solid"/>
          </a:ln>
        </p:spPr>
      </p:sp>
      <p:sp>
        <p:nvSpPr>
          <p:cNvPr id="37" name="Text 35"/>
          <p:cNvSpPr/>
          <p:nvPr/>
        </p:nvSpPr>
        <p:spPr>
          <a:xfrm>
            <a:off x="6553048" y="373075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38" name="Text 36"/>
          <p:cNvSpPr/>
          <p:nvPr/>
        </p:nvSpPr>
        <p:spPr>
          <a:xfrm>
            <a:off x="7101688" y="3657600"/>
            <a:ext cx="4038448" cy="530352"/>
          </a:xfrm>
          <a:prstGeom prst="rect">
            <a:avLst/>
          </a:prstGeom>
          <a:noFill/>
          <a:ln/>
        </p:spPr>
        <p:txBody>
          <a:bodyPr wrap="square" lIns="0" tIns="0" rIns="0" bIns="0" rtlCol="0" anchor="ctr"/>
          <a:lstStyle/>
          <a:p>
            <a:pPr indent="0" marL="0">
              <a:buNone/>
            </a:pPr>
            <a:r>
              <a:rPr lang="en-US" sz="1900" b="1" dirty="0">
                <a:solidFill>
                  <a:srgbClr val="1F3A68"/>
                </a:solidFill>
                <a:latin typeface="Calibri" pitchFamily="34" charset="0"/>
                <a:ea typeface="Calibri" pitchFamily="34" charset="-122"/>
                <a:cs typeface="Calibri" pitchFamily="34" charset="-120"/>
              </a:rPr>
              <a:t>Q&amp;A</a:t>
            </a:r>
            <a:endParaRPr lang="en-US" sz="1900" dirty="0"/>
          </a:p>
        </p:txBody>
      </p:sp>
      <p:sp>
        <p:nvSpPr>
          <p:cNvPr id="39" name="Text 37"/>
          <p:cNvSpPr/>
          <p:nvPr/>
        </p:nvSpPr>
        <p:spPr>
          <a:xfrm>
            <a:off x="11140135" y="3657600"/>
            <a:ext cx="731520" cy="530352"/>
          </a:xfrm>
          <a:prstGeom prst="rect">
            <a:avLst/>
          </a:prstGeom>
          <a:noFill/>
          <a:ln/>
        </p:spPr>
        <p:txBody>
          <a:bodyPr wrap="square" lIns="0" tIns="0" rIns="0" bIns="0" rtlCol="0" anchor="ctr"/>
          <a:lstStyle/>
          <a:p>
            <a:pPr algn="r" indent="0" marL="0">
              <a:buNone/>
            </a:pPr>
            <a:r>
              <a:rPr lang="en-US" sz="1300" dirty="0">
                <a:solidFill>
                  <a:srgbClr val="5A6478"/>
                </a:solidFill>
                <a:latin typeface="Calibri" pitchFamily="34" charset="0"/>
                <a:ea typeface="Calibri" pitchFamily="34" charset="-122"/>
                <a:cs typeface="Calibri" pitchFamily="34" charset="-120"/>
              </a:rPr>
              <a:t>22</a:t>
            </a:r>
            <a:endParaRPr lang="en-US" sz="1300" dirty="0"/>
          </a:p>
        </p:txBody>
      </p:sp>
      <p:sp>
        <p:nvSpPr>
          <p:cNvPr id="25" name="Slide Number Placeholder 0"/>
          <p:cNvSpPr>
            <a:spLocks noGrp="1"/>
          </p:cNvSpPr>
          <p:nvPr>
            <p:ph type="sldNum" sz="quarter" idx="4294967295"/>
          </p:nvPr>
        </p:nvSpPr>
        <p:spPr>
          <a:xfrm>
            <a:off x="11368735"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p:nvPr/>
        </p:nvSpPr>
        <p:spPr>
          <a:xfrm>
            <a:off x="411480" y="182880"/>
            <a:ext cx="11368735" cy="548640"/>
          </a:xfrm>
          <a:prstGeom prst="rect">
            <a:avLst/>
          </a:prstGeom>
          <a:noFill/>
          <a:ln/>
        </p:spPr>
        <p:txBody>
          <a:bodyPr wrap="square" lIns="0" tIns="0" rIns="0" bIns="0" rtlCol="0" anchor="ctr"/>
          <a:lstStyle/>
          <a:p>
            <a:pPr indent="0" marL="0">
              <a:buNone/>
            </a:pPr>
            <a:r>
              <a:rPr lang="en-US" sz="2800" b="1" dirty="0">
                <a:solidFill>
                  <a:srgbClr val="1F3A68"/>
                </a:solidFill>
                <a:latin typeface="Calibri" pitchFamily="34" charset="0"/>
                <a:ea typeface="Calibri" pitchFamily="34" charset="-122"/>
                <a:cs typeface="Calibri" pitchFamily="34" charset="-120"/>
              </a:rPr>
              <a:t>Proposed solution</a:t>
            </a:r>
            <a:endParaRPr lang="en-US" sz="2800" dirty="0"/>
          </a:p>
        </p:txBody>
      </p:sp>
      <p:sp>
        <p:nvSpPr>
          <p:cNvPr id="3" name="Message"/>
          <p:cNvSpPr/>
          <p:nvPr/>
        </p:nvSpPr>
        <p:spPr>
          <a:xfrm>
            <a:off x="411480" y="731520"/>
            <a:ext cx="11368735" cy="320040"/>
          </a:xfrm>
          <a:prstGeom prst="rect">
            <a:avLst/>
          </a:prstGeom>
          <a:noFill/>
          <a:ln/>
        </p:spPr>
        <p:txBody>
          <a:bodyPr wrap="square" lIns="0" tIns="0" rIns="0" bIns="0" rtlCol="0" anchor="ctr"/>
          <a:lstStyle/>
          <a:p>
            <a:pPr indent="0" marL="0">
              <a:buNone/>
            </a:pPr>
            <a:r>
              <a:rPr lang="en-US" sz="1500" dirty="0">
                <a:solidFill>
                  <a:srgbClr val="5A6478"/>
                </a:solidFill>
                <a:latin typeface="Calibri" pitchFamily="34" charset="0"/>
                <a:ea typeface="Calibri" pitchFamily="34" charset="-122"/>
                <a:cs typeface="Calibri" pitchFamily="34" charset="-120"/>
              </a:rPr>
              <a:t>Five pain points, each answered by a </a:t>
            </a:r>
            <a:pPr indent="0" marL="0">
              <a:buNone/>
            </a:pPr>
            <a:r>
              <a:rPr lang="en-US" sz="1500" b="1" dirty="0">
                <a:solidFill>
                  <a:srgbClr val="5A6478"/>
                </a:solidFill>
                <a:latin typeface="Calibri" pitchFamily="34" charset="0"/>
                <a:ea typeface="Calibri" pitchFamily="34" charset="-122"/>
                <a:cs typeface="Calibri" pitchFamily="34" charset="-120"/>
              </a:rPr>
              <a:t>subdomain</a:t>
            </a:r>
            <a:pPr indent="0" marL="0">
              <a:buNone/>
            </a:pPr>
            <a:r>
              <a:rPr lang="en-US" sz="1500" dirty="0">
                <a:solidFill>
                  <a:srgbClr val="5A6478"/>
                </a:solidFill>
                <a:latin typeface="Calibri" pitchFamily="34" charset="0"/>
                <a:ea typeface="Calibri" pitchFamily="34" charset="-122"/>
                <a:cs typeface="Calibri" pitchFamily="34" charset="-120"/>
              </a:rPr>
              <a:t>, a </a:t>
            </a:r>
            <a:pPr indent="0" marL="0">
              <a:buNone/>
            </a:pPr>
            <a:r>
              <a:rPr lang="en-US" sz="1500" b="1" dirty="0">
                <a:solidFill>
                  <a:srgbClr val="5A6478"/>
                </a:solidFill>
                <a:latin typeface="Calibri" pitchFamily="34" charset="0"/>
                <a:ea typeface="Calibri" pitchFamily="34" charset="-122"/>
                <a:cs typeface="Calibri" pitchFamily="34" charset="-120"/>
              </a:rPr>
              <a:t>pattern</a:t>
            </a:r>
            <a:pPr indent="0" marL="0">
              <a:buNone/>
            </a:pPr>
            <a:r>
              <a:rPr lang="en-US" sz="1500" dirty="0">
                <a:solidFill>
                  <a:srgbClr val="5A6478"/>
                </a:solidFill>
                <a:latin typeface="Calibri" pitchFamily="34" charset="0"/>
                <a:ea typeface="Calibri" pitchFamily="34" charset="-122"/>
                <a:cs typeface="Calibri" pitchFamily="34" charset="-120"/>
              </a:rPr>
              <a:t> or a </a:t>
            </a:r>
            <a:pPr indent="0" marL="0">
              <a:buNone/>
            </a:pPr>
            <a:r>
              <a:rPr lang="en-US" sz="1500" b="1" dirty="0">
                <a:solidFill>
                  <a:srgbClr val="5A6478"/>
                </a:solidFill>
                <a:latin typeface="Calibri" pitchFamily="34" charset="0"/>
                <a:ea typeface="Calibri" pitchFamily="34" charset="-122"/>
                <a:cs typeface="Calibri" pitchFamily="34" charset="-120"/>
              </a:rPr>
              <a:t>decision</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11368735" cy="914400"/>
        </p:xfrm>
        <a:graphic>
          <a:graphicData uri="http://schemas.openxmlformats.org/drawingml/2006/table">
            <a:tbl>
              <a:tblPr/>
              <a:tblGrid>
                <a:gridCol w="4942928"/>
                <a:gridCol w="6425807"/>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Problem today</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1F3A6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Answer in the target architecture</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1F3A68"/>
                    </a:solidFill>
                  </a:tcPr>
                </a:tc>
              </a:tr>
              <a:tr h="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Schedules live in per-clinic spreadsheets, so double bookings happen weekly</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Scheduling</a:t>
                      </a:r>
                      <a:pPr indent="0" marL="0">
                        <a:buNone/>
                      </a:pPr>
                      <a:r>
                        <a:rPr lang="en-US" sz="1300" dirty="0">
                          <a:solidFill>
                            <a:srgbClr val="222222"/>
                          </a:solidFill>
                          <a:latin typeface="Calibri" pitchFamily="34" charset="0"/>
                          <a:ea typeface="Calibri" pitchFamily="34" charset="-122"/>
                          <a:cs typeface="Calibri" pitchFamily="34" charset="-120"/>
                        </a:rPr>
                        <a:t> is the only owner of slots; a slot is held for 10 minutes, then committed</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Patients can only book by phone during opening hours</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4F6FC"/>
                    </a:solidFill>
                  </a:tcPr>
                </a:tc>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Online booking</a:t>
                      </a:r>
                      <a:pPr indent="0" marL="0">
                        <a:buNone/>
                      </a:pPr>
                      <a:r>
                        <a:rPr lang="en-US" sz="1300" dirty="0">
                          <a:solidFill>
                            <a:srgbClr val="222222"/>
                          </a:solidFill>
                          <a:latin typeface="Calibri" pitchFamily="34" charset="0"/>
                          <a:ea typeface="Calibri" pitchFamily="34" charset="-122"/>
                          <a:cs typeface="Calibri" pitchFamily="34" charset="-120"/>
                        </a:rPr>
                        <a:t> on web and mobile through </a:t>
                      </a:r>
                      <a:pPr indent="0" marL="0">
                        <a:buNone/>
                      </a:pPr>
                      <a:r>
                        <a:rPr lang="en-US" sz="1300" b="1" dirty="0">
                          <a:solidFill>
                            <a:srgbClr val="222222"/>
                          </a:solidFill>
                          <a:latin typeface="Calibri" pitchFamily="34" charset="0"/>
                          <a:ea typeface="Calibri" pitchFamily="34" charset="-122"/>
                          <a:cs typeface="Calibri" pitchFamily="34" charset="-120"/>
                        </a:rPr>
                        <a:t>one API gateway</a:t>
                      </a:r>
                      <a:pPr indent="0" marL="0">
                        <a:buNone/>
                      </a:pPr>
                      <a:r>
                        <a:rPr lang="en-US" sz="1300" dirty="0">
                          <a:solidFill>
                            <a:srgbClr val="222222"/>
                          </a:solidFill>
                          <a:latin typeface="Calibri" pitchFamily="34" charset="0"/>
                          <a:ea typeface="Calibri" pitchFamily="34" charset="-122"/>
                          <a:cs typeface="Calibri" pitchFamily="34" charset="-120"/>
                        </a:rPr>
                        <a:t> with web and mobile routes</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4F6FC"/>
                    </a:solidFill>
                  </a:tcPr>
                </a:tc>
              </a:tr>
              <a:tr h="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One deployable and one database; every change needs a full regression</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One service per subdomain</a:t>
                      </a:r>
                      <a:pPr indent="0" marL="0">
                        <a:buNone/>
                      </a:pPr>
                      <a:r>
                        <a:rPr lang="en-US" sz="1300" dirty="0">
                          <a:solidFill>
                            <a:srgbClr val="222222"/>
                          </a:solidFill>
                          <a:latin typeface="Calibri" pitchFamily="34" charset="0"/>
                          <a:ea typeface="Calibri" pitchFamily="34" charset="-122"/>
                          <a:cs typeface="Calibri" pitchFamily="34" charset="-120"/>
                        </a:rPr>
                        <a:t>, each with its own database, released on its own</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When the card-payment integration hangs, nobody can book in any clinic</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4F6FC"/>
                    </a:solidFill>
                  </a:tcPr>
                </a:tc>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Isolated partner calls</a:t>
                      </a:r>
                      <a:pPr indent="0" marL="0">
                        <a:buNone/>
                      </a:pPr>
                      <a:r>
                        <a:rPr lang="en-US" sz="1300" dirty="0">
                          <a:solidFill>
                            <a:srgbClr val="222222"/>
                          </a:solidFill>
                          <a:latin typeface="Calibri" pitchFamily="34" charset="0"/>
                          <a:ea typeface="Calibri" pitchFamily="34" charset="-122"/>
                          <a:cs typeface="Calibri" pitchFamily="34" charset="-120"/>
                        </a:rPr>
                        <a:t> (timeouts, retries, circuit breakers), with an </a:t>
                      </a:r>
                      <a:pPr indent="0" marL="0">
                        <a:buNone/>
                      </a:pPr>
                      <a:r>
                        <a:rPr lang="en-US" sz="1300" b="1" dirty="0">
                          <a:solidFill>
                            <a:srgbClr val="222222"/>
                          </a:solidFill>
                          <a:latin typeface="Calibri" pitchFamily="34" charset="0"/>
                          <a:ea typeface="Calibri" pitchFamily="34" charset="-122"/>
                          <a:cs typeface="Calibri" pitchFamily="34" charset="-120"/>
                        </a:rPr>
                        <a:t>outbox</a:t>
                      </a:r>
                      <a:pPr indent="0" marL="0">
                        <a:buNone/>
                      </a:pPr>
                      <a:r>
                        <a:rPr lang="en-US" sz="1300" dirty="0">
                          <a:solidFill>
                            <a:srgbClr val="222222"/>
                          </a:solidFill>
                          <a:latin typeface="Calibri" pitchFamily="34" charset="0"/>
                          <a:ea typeface="Calibri" pitchFamily="34" charset="-122"/>
                          <a:cs typeface="Calibri" pitchFamily="34" charset="-120"/>
                        </a:rPr>
                        <a:t> and idempotency keys</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4F6FC"/>
                    </a:solidFill>
                  </a:tcPr>
                </a:tc>
              </a:tr>
              <a:tr h="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Reminders are sent by hand, so no-shows are high</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Event-driven reminders</a:t>
                      </a:r>
                      <a:pPr indent="0" marL="0">
                        <a:buNone/>
                      </a:pPr>
                      <a:r>
                        <a:rPr lang="en-US" sz="1300" dirty="0">
                          <a:solidFill>
                            <a:srgbClr val="222222"/>
                          </a:solidFill>
                          <a:latin typeface="Calibri" pitchFamily="34" charset="0"/>
                          <a:ea typeface="Calibri" pitchFamily="34" charset="-122"/>
                          <a:cs typeface="Calibri" pitchFamily="34" charset="-120"/>
                        </a:rPr>
                        <a:t> from the notification service</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68735"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p:nvPr/>
        </p:nvSpPr>
        <p:spPr>
          <a:xfrm>
            <a:off x="411480" y="182880"/>
            <a:ext cx="11368735" cy="548640"/>
          </a:xfrm>
          <a:prstGeom prst="rect">
            <a:avLst/>
          </a:prstGeom>
          <a:noFill/>
          <a:ln/>
        </p:spPr>
        <p:txBody>
          <a:bodyPr wrap="square" lIns="0" tIns="0" rIns="0" bIns="0" rtlCol="0" anchor="ctr"/>
          <a:lstStyle/>
          <a:p>
            <a:pPr indent="0" marL="0">
              <a:buNone/>
            </a:pPr>
            <a:r>
              <a:rPr lang="en-US" sz="2800" b="1" dirty="0">
                <a:solidFill>
                  <a:srgbClr val="1F3A68"/>
                </a:solidFill>
                <a:latin typeface="Calibri" pitchFamily="34" charset="0"/>
                <a:ea typeface="Calibri" pitchFamily="34" charset="-122"/>
                <a:cs typeface="Calibri" pitchFamily="34" charset="-120"/>
              </a:rPr>
              <a:t>Main business functions</a:t>
            </a:r>
            <a:endParaRPr lang="en-US" sz="2800" dirty="0"/>
          </a:p>
        </p:txBody>
      </p:sp>
      <p:sp>
        <p:nvSpPr>
          <p:cNvPr id="3" name="Message"/>
          <p:cNvSpPr/>
          <p:nvPr/>
        </p:nvSpPr>
        <p:spPr>
          <a:xfrm>
            <a:off x="411480" y="731520"/>
            <a:ext cx="11368735" cy="320040"/>
          </a:xfrm>
          <a:prstGeom prst="rect">
            <a:avLst/>
          </a:prstGeom>
          <a:noFill/>
          <a:ln/>
        </p:spPr>
        <p:txBody>
          <a:bodyPr wrap="square" lIns="0" tIns="0" rIns="0" bIns="0" rtlCol="0" anchor="ctr"/>
          <a:lstStyle/>
          <a:p>
            <a:pPr indent="0" marL="0">
              <a:buNone/>
            </a:pPr>
            <a:r>
              <a:rPr lang="en-US" sz="1500" dirty="0">
                <a:solidFill>
                  <a:srgbClr val="5A6478"/>
                </a:solidFill>
                <a:latin typeface="Calibri" pitchFamily="34" charset="0"/>
                <a:ea typeface="Calibri" pitchFamily="34" charset="-122"/>
                <a:cs typeface="Calibri" pitchFamily="34" charset="-120"/>
              </a:rPr>
              <a:t>Fifteen functions for patients, clinic staff and administrators</a:t>
            </a:r>
            <a:endParaRPr lang="en-US" sz="1500" dirty="0"/>
          </a:p>
        </p:txBody>
      </p:sp>
      <p:pic>
        <p:nvPicPr>
          <p:cNvPr id="4" name="Image 0" descr="examples/clinic-booking/design/deck/assets/02-functions-p1.png">    </p:cNvPr>
          <p:cNvPicPr>
            <a:picLocks noChangeAspect="1"/>
          </p:cNvPicPr>
          <p:nvPr/>
        </p:nvPicPr>
        <p:blipFill>
          <a:blip r:embed="rId1"/>
          <a:stretch>
            <a:fillRect/>
          </a:stretch>
        </p:blipFill>
        <p:spPr>
          <a:xfrm>
            <a:off x="2170523" y="1188720"/>
            <a:ext cx="7850649" cy="4837176"/>
          </a:xfrm>
          <a:prstGeom prst="rect">
            <a:avLst/>
          </a:prstGeom>
        </p:spPr>
      </p:pic>
      <p:sp>
        <p:nvSpPr>
          <p:cNvPr id="5" name="Shape 2"/>
          <p:cNvSpPr/>
          <p:nvPr/>
        </p:nvSpPr>
        <p:spPr>
          <a:xfrm>
            <a:off x="411480" y="6108192"/>
            <a:ext cx="292608" cy="146304"/>
          </a:xfrm>
          <a:prstGeom prst="rect">
            <a:avLst/>
          </a:prstGeom>
          <a:solidFill>
            <a:srgbClr val="DAE8FC"/>
          </a:solidFill>
          <a:ln w="12700">
            <a:solidFill>
              <a:srgbClr val="6C8EBF"/>
            </a:solidFill>
            <a:prstDash val="solid"/>
          </a:ln>
        </p:spPr>
      </p:sp>
      <p:sp>
        <p:nvSpPr>
          <p:cNvPr id="6" name="Text 3"/>
          <p:cNvSpPr/>
          <p:nvPr/>
        </p:nvSpPr>
        <p:spPr>
          <a:xfrm>
            <a:off x="777240" y="6053328"/>
            <a:ext cx="121158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Patient functions</a:t>
            </a:r>
            <a:endParaRPr lang="en-US" sz="1000" dirty="0"/>
          </a:p>
        </p:txBody>
      </p:sp>
      <p:sp>
        <p:nvSpPr>
          <p:cNvPr id="7" name="Shape 4"/>
          <p:cNvSpPr/>
          <p:nvPr/>
        </p:nvSpPr>
        <p:spPr>
          <a:xfrm>
            <a:off x="2217420" y="6108192"/>
            <a:ext cx="292608" cy="146304"/>
          </a:xfrm>
          <a:prstGeom prst="rect">
            <a:avLst/>
          </a:prstGeom>
          <a:solidFill>
            <a:srgbClr val="D5E8D4"/>
          </a:solidFill>
          <a:ln w="12700">
            <a:solidFill>
              <a:srgbClr val="82B366"/>
            </a:solidFill>
            <a:prstDash val="solid"/>
          </a:ln>
        </p:spPr>
      </p:sp>
      <p:sp>
        <p:nvSpPr>
          <p:cNvPr id="8" name="Text 5"/>
          <p:cNvSpPr/>
          <p:nvPr/>
        </p:nvSpPr>
        <p:spPr>
          <a:xfrm>
            <a:off x="2583180" y="6053328"/>
            <a:ext cx="155448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Clinic staff functions</a:t>
            </a:r>
            <a:endParaRPr lang="en-US" sz="1000" dirty="0"/>
          </a:p>
        </p:txBody>
      </p:sp>
      <p:sp>
        <p:nvSpPr>
          <p:cNvPr id="9" name="Shape 6"/>
          <p:cNvSpPr/>
          <p:nvPr/>
        </p:nvSpPr>
        <p:spPr>
          <a:xfrm>
            <a:off x="4366260" y="6108192"/>
            <a:ext cx="292608" cy="146304"/>
          </a:xfrm>
          <a:prstGeom prst="rect">
            <a:avLst/>
          </a:prstGeom>
          <a:solidFill>
            <a:srgbClr val="E1D5E7"/>
          </a:solidFill>
          <a:ln w="12700">
            <a:solidFill>
              <a:srgbClr val="9673A6"/>
            </a:solidFill>
            <a:prstDash val="solid"/>
          </a:ln>
        </p:spPr>
      </p:sp>
      <p:sp>
        <p:nvSpPr>
          <p:cNvPr id="10" name="Text 7"/>
          <p:cNvSpPr/>
          <p:nvPr/>
        </p:nvSpPr>
        <p:spPr>
          <a:xfrm>
            <a:off x="4732020" y="6053328"/>
            <a:ext cx="16916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Administration functions</a:t>
            </a:r>
            <a:endParaRPr lang="en-US" sz="1000" dirty="0"/>
          </a:p>
        </p:txBody>
      </p:sp>
      <p:sp>
        <p:nvSpPr>
          <p:cNvPr id="25" name="Slide Number Placeholder 0"/>
          <p:cNvSpPr>
            <a:spLocks noGrp="1"/>
          </p:cNvSpPr>
          <p:nvPr>
            <p:ph type="sldNum" sz="quarter" idx="4294967295"/>
          </p:nvPr>
        </p:nvSpPr>
        <p:spPr>
          <a:xfrm>
            <a:off x="11368735"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p:nvPr/>
        </p:nvSpPr>
        <p:spPr>
          <a:xfrm>
            <a:off x="411480" y="182880"/>
            <a:ext cx="11368735" cy="548640"/>
          </a:xfrm>
          <a:prstGeom prst="rect">
            <a:avLst/>
          </a:prstGeom>
          <a:noFill/>
          <a:ln/>
        </p:spPr>
        <p:txBody>
          <a:bodyPr wrap="square" lIns="0" tIns="0" rIns="0" bIns="0" rtlCol="0" anchor="ctr"/>
          <a:lstStyle/>
          <a:p>
            <a:pPr indent="0" marL="0">
              <a:buNone/>
            </a:pPr>
            <a:r>
              <a:rPr lang="en-US" sz="2800" b="1" dirty="0">
                <a:solidFill>
                  <a:srgbClr val="1F3A68"/>
                </a:solidFill>
                <a:latin typeface="Calibri" pitchFamily="34" charset="0"/>
                <a:ea typeface="Calibri" pitchFamily="34" charset="-122"/>
                <a:cs typeface="Calibri" pitchFamily="34" charset="-120"/>
              </a:rPr>
              <a:t>Subdomains</a:t>
            </a:r>
            <a:endParaRPr lang="en-US" sz="2800" dirty="0"/>
          </a:p>
        </p:txBody>
      </p:sp>
      <p:sp>
        <p:nvSpPr>
          <p:cNvPr id="3" name="Message"/>
          <p:cNvSpPr/>
          <p:nvPr/>
        </p:nvSpPr>
        <p:spPr>
          <a:xfrm>
            <a:off x="411480" y="731520"/>
            <a:ext cx="11368735" cy="320040"/>
          </a:xfrm>
          <a:prstGeom prst="rect">
            <a:avLst/>
          </a:prstGeom>
          <a:noFill/>
          <a:ln/>
        </p:spPr>
        <p:txBody>
          <a:bodyPr wrap="square" lIns="0" tIns="0" rIns="0" bIns="0" rtlCol="0" anchor="ctr"/>
          <a:lstStyle/>
          <a:p>
            <a:pPr indent="0" marL="0">
              <a:buNone/>
            </a:pPr>
            <a:r>
              <a:rPr lang="en-US" sz="1500" dirty="0">
                <a:solidFill>
                  <a:srgbClr val="5A6478"/>
                </a:solidFill>
                <a:latin typeface="Calibri" pitchFamily="34" charset="0"/>
                <a:ea typeface="Calibri" pitchFamily="34" charset="-122"/>
                <a:cs typeface="Calibri" pitchFamily="34" charset="-120"/>
              </a:rPr>
              <a:t>Scheduling and appointments are the core; each of the 8 subdomains is owned by one service</a:t>
            </a:r>
            <a:endParaRPr lang="en-US" sz="1500" dirty="0"/>
          </a:p>
        </p:txBody>
      </p:sp>
      <p:pic>
        <p:nvPicPr>
          <p:cNvPr id="4" name="Image 0" descr="examples/clinic-booking/design/deck/assets/03-subdomains-p1.png">    </p:cNvPr>
          <p:cNvPicPr>
            <a:picLocks noChangeAspect="1"/>
          </p:cNvPicPr>
          <p:nvPr/>
        </p:nvPicPr>
        <p:blipFill>
          <a:blip r:embed="rId1"/>
          <a:stretch>
            <a:fillRect/>
          </a:stretch>
        </p:blipFill>
        <p:spPr>
          <a:xfrm>
            <a:off x="1936039" y="1188720"/>
            <a:ext cx="8319617" cy="4837176"/>
          </a:xfrm>
          <a:prstGeom prst="rect">
            <a:avLst/>
          </a:prstGeom>
        </p:spPr>
      </p:pic>
      <p:sp>
        <p:nvSpPr>
          <p:cNvPr id="5" name="Shape 2"/>
          <p:cNvSpPr/>
          <p:nvPr/>
        </p:nvSpPr>
        <p:spPr>
          <a:xfrm>
            <a:off x="411480" y="6108192"/>
            <a:ext cx="292608" cy="146304"/>
          </a:xfrm>
          <a:prstGeom prst="rect">
            <a:avLst/>
          </a:prstGeom>
          <a:solidFill>
            <a:srgbClr val="DAE8FC"/>
          </a:solidFill>
          <a:ln w="12700">
            <a:solidFill>
              <a:srgbClr val="6C8EBF"/>
            </a:solidFill>
            <a:prstDash val="solid"/>
          </a:ln>
        </p:spPr>
      </p:sp>
      <p:sp>
        <p:nvSpPr>
          <p:cNvPr id="6" name="Text 3"/>
          <p:cNvSpPr/>
          <p:nvPr/>
        </p:nvSpPr>
        <p:spPr>
          <a:xfrm>
            <a:off x="777240" y="6053328"/>
            <a:ext cx="10058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Core subdomain</a:t>
            </a:r>
            <a:endParaRPr lang="en-US" sz="1000" dirty="0"/>
          </a:p>
        </p:txBody>
      </p:sp>
      <p:sp>
        <p:nvSpPr>
          <p:cNvPr id="7" name="Shape 4"/>
          <p:cNvSpPr/>
          <p:nvPr/>
        </p:nvSpPr>
        <p:spPr>
          <a:xfrm>
            <a:off x="2011680" y="6108192"/>
            <a:ext cx="292608" cy="146304"/>
          </a:xfrm>
          <a:prstGeom prst="rect">
            <a:avLst/>
          </a:prstGeom>
          <a:solidFill>
            <a:srgbClr val="D5E8D4"/>
          </a:solidFill>
          <a:ln w="12700">
            <a:solidFill>
              <a:srgbClr val="82B366"/>
            </a:solidFill>
            <a:prstDash val="solid"/>
          </a:ln>
        </p:spPr>
      </p:sp>
      <p:sp>
        <p:nvSpPr>
          <p:cNvPr id="8" name="Text 5"/>
          <p:cNvSpPr/>
          <p:nvPr/>
        </p:nvSpPr>
        <p:spPr>
          <a:xfrm>
            <a:off x="2377440" y="6053328"/>
            <a:ext cx="141732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Supporting subdomain</a:t>
            </a:r>
            <a:endParaRPr lang="en-US" sz="1000" dirty="0"/>
          </a:p>
        </p:txBody>
      </p:sp>
      <p:sp>
        <p:nvSpPr>
          <p:cNvPr id="9" name="Shape 6"/>
          <p:cNvSpPr/>
          <p:nvPr/>
        </p:nvSpPr>
        <p:spPr>
          <a:xfrm>
            <a:off x="4023360" y="6108192"/>
            <a:ext cx="292608" cy="146304"/>
          </a:xfrm>
          <a:prstGeom prst="rect">
            <a:avLst/>
          </a:prstGeom>
          <a:solidFill>
            <a:srgbClr val="E1D5E7"/>
          </a:solidFill>
          <a:ln w="12700">
            <a:solidFill>
              <a:srgbClr val="9673A6"/>
            </a:solidFill>
            <a:prstDash val="solid"/>
          </a:ln>
        </p:spPr>
      </p:sp>
      <p:sp>
        <p:nvSpPr>
          <p:cNvPr id="10" name="Text 7"/>
          <p:cNvSpPr/>
          <p:nvPr/>
        </p:nvSpPr>
        <p:spPr>
          <a:xfrm>
            <a:off x="4389120" y="6053328"/>
            <a:ext cx="121158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Generic subdomain</a:t>
            </a:r>
            <a:endParaRPr lang="en-US" sz="1000" dirty="0"/>
          </a:p>
        </p:txBody>
      </p:sp>
      <p:sp>
        <p:nvSpPr>
          <p:cNvPr id="25" name="Slide Number Placeholder 0"/>
          <p:cNvSpPr>
            <a:spLocks noGrp="1"/>
          </p:cNvSpPr>
          <p:nvPr>
            <p:ph type="sldNum" sz="quarter" idx="4294967295"/>
          </p:nvPr>
        </p:nvSpPr>
        <p:spPr>
          <a:xfrm>
            <a:off x="11368735"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p:nvPr/>
        </p:nvSpPr>
        <p:spPr>
          <a:xfrm>
            <a:off x="411480" y="182880"/>
            <a:ext cx="11368735" cy="548640"/>
          </a:xfrm>
          <a:prstGeom prst="rect">
            <a:avLst/>
          </a:prstGeom>
          <a:noFill/>
          <a:ln/>
        </p:spPr>
        <p:txBody>
          <a:bodyPr wrap="square" lIns="0" tIns="0" rIns="0" bIns="0" rtlCol="0" anchor="ctr"/>
          <a:lstStyle/>
          <a:p>
            <a:pPr indent="0" marL="0">
              <a:buNone/>
            </a:pPr>
            <a:r>
              <a:rPr lang="en-US" sz="2800" b="1" dirty="0">
                <a:solidFill>
                  <a:srgbClr val="1F3A68"/>
                </a:solidFill>
                <a:latin typeface="Calibri" pitchFamily="34" charset="0"/>
                <a:ea typeface="Calibri" pitchFamily="34" charset="-122"/>
                <a:cs typeface="Calibri" pitchFamily="34" charset="-120"/>
              </a:rPr>
              <a:t>Context map</a:t>
            </a:r>
            <a:endParaRPr lang="en-US" sz="2800" dirty="0"/>
          </a:p>
        </p:txBody>
      </p:sp>
      <p:sp>
        <p:nvSpPr>
          <p:cNvPr id="3" name="Message"/>
          <p:cNvSpPr/>
          <p:nvPr/>
        </p:nvSpPr>
        <p:spPr>
          <a:xfrm>
            <a:off x="411480" y="731520"/>
            <a:ext cx="11368735" cy="320040"/>
          </a:xfrm>
          <a:prstGeom prst="rect">
            <a:avLst/>
          </a:prstGeom>
          <a:noFill/>
          <a:ln/>
        </p:spPr>
        <p:txBody>
          <a:bodyPr wrap="square" lIns="0" tIns="0" rIns="0" bIns="0" rtlCol="0" anchor="ctr"/>
          <a:lstStyle/>
          <a:p>
            <a:pPr indent="0" marL="0">
              <a:buNone/>
            </a:pPr>
            <a:r>
              <a:rPr lang="en-US" sz="1500" dirty="0">
                <a:solidFill>
                  <a:srgbClr val="5A6478"/>
                </a:solidFill>
                <a:latin typeface="Calibri" pitchFamily="34" charset="0"/>
                <a:ea typeface="Calibri" pitchFamily="34" charset="-122"/>
                <a:cs typeface="Calibri" pitchFamily="34" charset="-120"/>
              </a:rPr>
              <a:t>Appointments depends on four upstream contexts and feeds notifications and reporting with events</a:t>
            </a:r>
            <a:endParaRPr lang="en-US" sz="1500" dirty="0"/>
          </a:p>
        </p:txBody>
      </p:sp>
      <p:pic>
        <p:nvPicPr>
          <p:cNvPr id="4" name="Image 0" descr="examples/clinic-booking/design/deck/assets/04-context-map-p1.png">    </p:cNvPr>
          <p:cNvPicPr>
            <a:picLocks noChangeAspect="1"/>
          </p:cNvPicPr>
          <p:nvPr/>
        </p:nvPicPr>
        <p:blipFill>
          <a:blip r:embed="rId1"/>
          <a:stretch>
            <a:fillRect/>
          </a:stretch>
        </p:blipFill>
        <p:spPr>
          <a:xfrm>
            <a:off x="3392148" y="1188720"/>
            <a:ext cx="5407399" cy="4837176"/>
          </a:xfrm>
          <a:prstGeom prst="rect">
            <a:avLst/>
          </a:prstGeom>
        </p:spPr>
      </p:pic>
      <p:sp>
        <p:nvSpPr>
          <p:cNvPr id="5" name="Shape 2"/>
          <p:cNvSpPr/>
          <p:nvPr/>
        </p:nvSpPr>
        <p:spPr>
          <a:xfrm>
            <a:off x="411480" y="6108192"/>
            <a:ext cx="292608" cy="146304"/>
          </a:xfrm>
          <a:prstGeom prst="rect">
            <a:avLst/>
          </a:prstGeom>
          <a:solidFill>
            <a:srgbClr val="DAE8FC"/>
          </a:solidFill>
          <a:ln w="12700">
            <a:solidFill>
              <a:srgbClr val="6C8EBF"/>
            </a:solidFill>
            <a:prstDash val="solid"/>
          </a:ln>
        </p:spPr>
      </p:sp>
      <p:sp>
        <p:nvSpPr>
          <p:cNvPr id="6" name="Text 3"/>
          <p:cNvSpPr/>
          <p:nvPr/>
        </p:nvSpPr>
        <p:spPr>
          <a:xfrm>
            <a:off x="777240" y="6053328"/>
            <a:ext cx="10058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Core subdomain</a:t>
            </a:r>
            <a:endParaRPr lang="en-US" sz="1000" dirty="0"/>
          </a:p>
        </p:txBody>
      </p:sp>
      <p:sp>
        <p:nvSpPr>
          <p:cNvPr id="7" name="Shape 4"/>
          <p:cNvSpPr/>
          <p:nvPr/>
        </p:nvSpPr>
        <p:spPr>
          <a:xfrm>
            <a:off x="2011680" y="6108192"/>
            <a:ext cx="292608" cy="146304"/>
          </a:xfrm>
          <a:prstGeom prst="rect">
            <a:avLst/>
          </a:prstGeom>
          <a:solidFill>
            <a:srgbClr val="D5E8D4"/>
          </a:solidFill>
          <a:ln w="12700">
            <a:solidFill>
              <a:srgbClr val="82B366"/>
            </a:solidFill>
            <a:prstDash val="solid"/>
          </a:ln>
        </p:spPr>
      </p:sp>
      <p:sp>
        <p:nvSpPr>
          <p:cNvPr id="8" name="Text 5"/>
          <p:cNvSpPr/>
          <p:nvPr/>
        </p:nvSpPr>
        <p:spPr>
          <a:xfrm>
            <a:off x="2377440" y="6053328"/>
            <a:ext cx="141732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Supporting subdomain</a:t>
            </a:r>
            <a:endParaRPr lang="en-US" sz="1000" dirty="0"/>
          </a:p>
        </p:txBody>
      </p:sp>
      <p:sp>
        <p:nvSpPr>
          <p:cNvPr id="9" name="Shape 6"/>
          <p:cNvSpPr/>
          <p:nvPr/>
        </p:nvSpPr>
        <p:spPr>
          <a:xfrm>
            <a:off x="4023360" y="6108192"/>
            <a:ext cx="292608" cy="146304"/>
          </a:xfrm>
          <a:prstGeom prst="rect">
            <a:avLst/>
          </a:prstGeom>
          <a:solidFill>
            <a:srgbClr val="E1D5E7"/>
          </a:solidFill>
          <a:ln w="12700">
            <a:solidFill>
              <a:srgbClr val="9673A6"/>
            </a:solidFill>
            <a:prstDash val="solid"/>
          </a:ln>
        </p:spPr>
      </p:sp>
      <p:sp>
        <p:nvSpPr>
          <p:cNvPr id="10" name="Text 7"/>
          <p:cNvSpPr/>
          <p:nvPr/>
        </p:nvSpPr>
        <p:spPr>
          <a:xfrm>
            <a:off x="4389120" y="6053328"/>
            <a:ext cx="121158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Generic subdomain</a:t>
            </a:r>
            <a:endParaRPr lang="en-US" sz="1000" dirty="0"/>
          </a:p>
        </p:txBody>
      </p:sp>
      <p:sp>
        <p:nvSpPr>
          <p:cNvPr id="11" name="Shape 8"/>
          <p:cNvSpPr/>
          <p:nvPr/>
        </p:nvSpPr>
        <p:spPr>
          <a:xfrm>
            <a:off x="5829300" y="6181344"/>
            <a:ext cx="320040" cy="0"/>
          </a:xfrm>
          <a:prstGeom prst="line">
            <a:avLst/>
          </a:prstGeom>
          <a:noFill/>
          <a:ln w="25400">
            <a:solidFill>
              <a:srgbClr val="1A73E8"/>
            </a:solidFill>
            <a:prstDash val="solid"/>
            <a:tailEnd type="triangle"/>
          </a:ln>
        </p:spPr>
      </p:sp>
      <p:sp>
        <p:nvSpPr>
          <p:cNvPr id="12" name="Text 9"/>
          <p:cNvSpPr/>
          <p:nvPr/>
        </p:nvSpPr>
        <p:spPr>
          <a:xfrm>
            <a:off x="6195060" y="6053328"/>
            <a:ext cx="6629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Sync call</a:t>
            </a:r>
            <a:endParaRPr lang="en-US" sz="1000" dirty="0"/>
          </a:p>
        </p:txBody>
      </p:sp>
      <p:sp>
        <p:nvSpPr>
          <p:cNvPr id="13" name="Shape 10"/>
          <p:cNvSpPr/>
          <p:nvPr/>
        </p:nvSpPr>
        <p:spPr>
          <a:xfrm>
            <a:off x="7086600" y="6181344"/>
            <a:ext cx="320040" cy="0"/>
          </a:xfrm>
          <a:prstGeom prst="line">
            <a:avLst/>
          </a:prstGeom>
          <a:noFill/>
          <a:ln w="25400">
            <a:solidFill>
              <a:srgbClr val="E8A400"/>
            </a:solidFill>
            <a:prstDash val="dash"/>
            <a:tailEnd type="triangle"/>
          </a:ln>
        </p:spPr>
      </p:sp>
      <p:sp>
        <p:nvSpPr>
          <p:cNvPr id="14" name="Text 11"/>
          <p:cNvSpPr/>
          <p:nvPr/>
        </p:nvSpPr>
        <p:spPr>
          <a:xfrm>
            <a:off x="7452360" y="6053328"/>
            <a:ext cx="80010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Async event</a:t>
            </a:r>
            <a:endParaRPr lang="en-US" sz="1000" dirty="0"/>
          </a:p>
        </p:txBody>
      </p:sp>
      <p:sp>
        <p:nvSpPr>
          <p:cNvPr id="25" name="Slide Number Placeholder 0"/>
          <p:cNvSpPr>
            <a:spLocks noGrp="1"/>
          </p:cNvSpPr>
          <p:nvPr>
            <p:ph type="sldNum" sz="quarter" idx="4294967295"/>
          </p:nvPr>
        </p:nvSpPr>
        <p:spPr>
          <a:xfrm>
            <a:off x="11368735"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p:nvPr/>
        </p:nvSpPr>
        <p:spPr>
          <a:xfrm>
            <a:off x="411480" y="182880"/>
            <a:ext cx="11368735" cy="548640"/>
          </a:xfrm>
          <a:prstGeom prst="rect">
            <a:avLst/>
          </a:prstGeom>
          <a:noFill/>
          <a:ln/>
        </p:spPr>
        <p:txBody>
          <a:bodyPr wrap="square" lIns="0" tIns="0" rIns="0" bIns="0" rtlCol="0" anchor="ctr"/>
          <a:lstStyle/>
          <a:p>
            <a:pPr indent="0" marL="0">
              <a:buNone/>
            </a:pPr>
            <a:r>
              <a:rPr lang="en-US" sz="2800" b="1" dirty="0">
                <a:solidFill>
                  <a:srgbClr val="1F3A68"/>
                </a:solidFill>
                <a:latin typeface="Calibri" pitchFamily="34" charset="0"/>
                <a:ea typeface="Calibri" pitchFamily="34" charset="-122"/>
                <a:cs typeface="Calibri" pitchFamily="34" charset="-120"/>
              </a:rPr>
              <a:t>Aggregate roots</a:t>
            </a:r>
            <a:endParaRPr lang="en-US" sz="2800" dirty="0"/>
          </a:p>
        </p:txBody>
      </p:sp>
      <p:sp>
        <p:nvSpPr>
          <p:cNvPr id="3" name="Message"/>
          <p:cNvSpPr/>
          <p:nvPr/>
        </p:nvSpPr>
        <p:spPr>
          <a:xfrm>
            <a:off x="411480" y="731520"/>
            <a:ext cx="11368735" cy="320040"/>
          </a:xfrm>
          <a:prstGeom prst="rect">
            <a:avLst/>
          </a:prstGeom>
          <a:noFill/>
          <a:ln/>
        </p:spPr>
        <p:txBody>
          <a:bodyPr wrap="square" lIns="0" tIns="0" rIns="0" bIns="0" rtlCol="0" anchor="ctr"/>
          <a:lstStyle/>
          <a:p>
            <a:pPr indent="0" marL="0">
              <a:buNone/>
            </a:pPr>
            <a:r>
              <a:rPr lang="en-US" sz="1500" dirty="0">
                <a:solidFill>
                  <a:srgbClr val="5A6478"/>
                </a:solidFill>
                <a:latin typeface="Calibri" pitchFamily="34" charset="0"/>
                <a:ea typeface="Calibri" pitchFamily="34" charset="-122"/>
                <a:cs typeface="Calibri" pitchFamily="34" charset="-120"/>
              </a:rPr>
              <a:t>Seven aggregates refer to each other by ID only; the appointment is at the centre</a:t>
            </a:r>
            <a:endParaRPr lang="en-US" sz="1500" dirty="0"/>
          </a:p>
        </p:txBody>
      </p:sp>
      <p:pic>
        <p:nvPicPr>
          <p:cNvPr id="4" name="Image 0" descr="examples/clinic-booking/design/deck/assets/05-aggregates-p1.png">    </p:cNvPr>
          <p:cNvPicPr>
            <a:picLocks noChangeAspect="1"/>
          </p:cNvPicPr>
          <p:nvPr/>
        </p:nvPicPr>
        <p:blipFill>
          <a:blip r:embed="rId1"/>
          <a:stretch>
            <a:fillRect/>
          </a:stretch>
        </p:blipFill>
        <p:spPr>
          <a:xfrm>
            <a:off x="411480" y="2550023"/>
            <a:ext cx="11368735" cy="2114569"/>
          </a:xfrm>
          <a:prstGeom prst="rect">
            <a:avLst/>
          </a:prstGeom>
        </p:spPr>
      </p:pic>
      <p:sp>
        <p:nvSpPr>
          <p:cNvPr id="5" name="Shape 2"/>
          <p:cNvSpPr/>
          <p:nvPr/>
        </p:nvSpPr>
        <p:spPr>
          <a:xfrm>
            <a:off x="411480" y="6108192"/>
            <a:ext cx="292608" cy="146304"/>
          </a:xfrm>
          <a:prstGeom prst="rect">
            <a:avLst/>
          </a:prstGeom>
          <a:solidFill>
            <a:srgbClr val="DAE8FC"/>
          </a:solidFill>
          <a:ln w="12700">
            <a:solidFill>
              <a:srgbClr val="6C8EBF"/>
            </a:solidFill>
            <a:prstDash val="solid"/>
          </a:ln>
        </p:spPr>
      </p:sp>
      <p:sp>
        <p:nvSpPr>
          <p:cNvPr id="6" name="Text 3"/>
          <p:cNvSpPr/>
          <p:nvPr/>
        </p:nvSpPr>
        <p:spPr>
          <a:xfrm>
            <a:off x="777240" y="6053328"/>
            <a:ext cx="10058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Aggregate root</a:t>
            </a:r>
            <a:endParaRPr lang="en-US" sz="1000" dirty="0"/>
          </a:p>
        </p:txBody>
      </p:sp>
      <p:sp>
        <p:nvSpPr>
          <p:cNvPr id="7" name="Shape 4"/>
          <p:cNvSpPr/>
          <p:nvPr/>
        </p:nvSpPr>
        <p:spPr>
          <a:xfrm>
            <a:off x="2011680" y="6181344"/>
            <a:ext cx="320040" cy="0"/>
          </a:xfrm>
          <a:prstGeom prst="line">
            <a:avLst/>
          </a:prstGeom>
          <a:noFill/>
          <a:ln w="25400">
            <a:solidFill>
              <a:srgbClr val="333333"/>
            </a:solidFill>
            <a:prstDash val="dash"/>
            <a:tailEnd type="triangle"/>
          </a:ln>
        </p:spPr>
      </p:sp>
      <p:sp>
        <p:nvSpPr>
          <p:cNvPr id="8" name="Text 5"/>
          <p:cNvSpPr/>
          <p:nvPr/>
        </p:nvSpPr>
        <p:spPr>
          <a:xfrm>
            <a:off x="2377440" y="6053328"/>
            <a:ext cx="86868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ID reference</a:t>
            </a:r>
            <a:endParaRPr lang="en-US" sz="1000" dirty="0"/>
          </a:p>
        </p:txBody>
      </p:sp>
      <p:sp>
        <p:nvSpPr>
          <p:cNvPr id="25" name="Slide Number Placeholder 0"/>
          <p:cNvSpPr>
            <a:spLocks noGrp="1"/>
          </p:cNvSpPr>
          <p:nvPr>
            <p:ph type="sldNum" sz="quarter" idx="4294967295"/>
          </p:nvPr>
        </p:nvSpPr>
        <p:spPr>
          <a:xfrm>
            <a:off x="11368735"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p:nvPr/>
        </p:nvSpPr>
        <p:spPr>
          <a:xfrm>
            <a:off x="411480" y="182880"/>
            <a:ext cx="11368735" cy="548640"/>
          </a:xfrm>
          <a:prstGeom prst="rect">
            <a:avLst/>
          </a:prstGeom>
          <a:noFill/>
          <a:ln/>
        </p:spPr>
        <p:txBody>
          <a:bodyPr wrap="square" lIns="0" tIns="0" rIns="0" bIns="0" rtlCol="0" anchor="ctr"/>
          <a:lstStyle/>
          <a:p>
            <a:pPr indent="0" marL="0">
              <a:buNone/>
            </a:pPr>
            <a:r>
              <a:rPr lang="en-US" sz="2800" b="1" dirty="0">
                <a:solidFill>
                  <a:srgbClr val="1F3A68"/>
                </a:solidFill>
                <a:latin typeface="Calibri" pitchFamily="34" charset="0"/>
                <a:ea typeface="Calibri" pitchFamily="34" charset="-122"/>
                <a:cs typeface="Calibri" pitchFamily="34" charset="-120"/>
              </a:rPr>
              <a:t>Use cases: Patient functions</a:t>
            </a:r>
            <a:endParaRPr lang="en-US" sz="2800" dirty="0"/>
          </a:p>
        </p:txBody>
      </p:sp>
      <p:sp>
        <p:nvSpPr>
          <p:cNvPr id="3" name="Message"/>
          <p:cNvSpPr/>
          <p:nvPr/>
        </p:nvSpPr>
        <p:spPr>
          <a:xfrm>
            <a:off x="411480" y="731520"/>
            <a:ext cx="11368735" cy="320040"/>
          </a:xfrm>
          <a:prstGeom prst="rect">
            <a:avLst/>
          </a:prstGeom>
          <a:noFill/>
          <a:ln/>
        </p:spPr>
        <p:txBody>
          <a:bodyPr wrap="square" lIns="0" tIns="0" rIns="0" bIns="0" rtlCol="0" anchor="ctr"/>
          <a:lstStyle/>
          <a:p>
            <a:pPr indent="0" marL="0">
              <a:buNone/>
            </a:pPr>
            <a:r>
              <a:rPr lang="en-US" sz="1500" dirty="0">
                <a:solidFill>
                  <a:srgbClr val="5A6478"/>
                </a:solidFill>
                <a:latin typeface="Calibri" pitchFamily="34" charset="0"/>
                <a:ea typeface="Calibri" pitchFamily="34" charset="-122"/>
                <a:cs typeface="Calibri" pitchFamily="34" charset="-120"/>
              </a:rPr>
              <a:t>Patients book online; booking includes the deposit and may extend into an insurance check</a:t>
            </a:r>
            <a:endParaRPr lang="en-US" sz="1500" dirty="0"/>
          </a:p>
        </p:txBody>
      </p:sp>
      <p:pic>
        <p:nvPicPr>
          <p:cNvPr id="4" name="Image 0" descr="examples/clinic-booking/design/deck/assets/06-use-cases-p1.png">    </p:cNvPr>
          <p:cNvPicPr>
            <a:picLocks noChangeAspect="1"/>
          </p:cNvPicPr>
          <p:nvPr/>
        </p:nvPicPr>
        <p:blipFill>
          <a:blip r:embed="rId1"/>
          <a:stretch>
            <a:fillRect/>
          </a:stretch>
        </p:blipFill>
        <p:spPr>
          <a:xfrm>
            <a:off x="411480" y="1534729"/>
            <a:ext cx="11368735" cy="4145158"/>
          </a:xfrm>
          <a:prstGeom prst="rect">
            <a:avLst/>
          </a:prstGeom>
        </p:spPr>
      </p:pic>
      <p:sp>
        <p:nvSpPr>
          <p:cNvPr id="5" name="Shape 2"/>
          <p:cNvSpPr/>
          <p:nvPr/>
        </p:nvSpPr>
        <p:spPr>
          <a:xfrm>
            <a:off x="411480" y="6108192"/>
            <a:ext cx="292608" cy="146304"/>
          </a:xfrm>
          <a:prstGeom prst="rect">
            <a:avLst/>
          </a:prstGeom>
          <a:solidFill>
            <a:srgbClr val="FFFFFF"/>
          </a:solidFill>
          <a:ln w="12700">
            <a:solidFill>
              <a:srgbClr val="333333"/>
            </a:solidFill>
            <a:prstDash val="solid"/>
          </a:ln>
        </p:spPr>
      </p:sp>
      <p:sp>
        <p:nvSpPr>
          <p:cNvPr id="6" name="Text 3"/>
          <p:cNvSpPr/>
          <p:nvPr/>
        </p:nvSpPr>
        <p:spPr>
          <a:xfrm>
            <a:off x="777240" y="6053328"/>
            <a:ext cx="59436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Use case</a:t>
            </a:r>
            <a:endParaRPr lang="en-US" sz="1000" dirty="0"/>
          </a:p>
        </p:txBody>
      </p:sp>
      <p:sp>
        <p:nvSpPr>
          <p:cNvPr id="7" name="Shape 4"/>
          <p:cNvSpPr/>
          <p:nvPr/>
        </p:nvSpPr>
        <p:spPr>
          <a:xfrm>
            <a:off x="1600200" y="6108192"/>
            <a:ext cx="292608" cy="146304"/>
          </a:xfrm>
          <a:prstGeom prst="rect">
            <a:avLst/>
          </a:prstGeom>
          <a:solidFill>
            <a:srgbClr val="FFFFFF"/>
          </a:solidFill>
          <a:ln w="12700">
            <a:solidFill>
              <a:srgbClr val="333333"/>
            </a:solidFill>
            <a:prstDash val="solid"/>
          </a:ln>
        </p:spPr>
      </p:sp>
      <p:sp>
        <p:nvSpPr>
          <p:cNvPr id="8" name="Text 5"/>
          <p:cNvSpPr/>
          <p:nvPr/>
        </p:nvSpPr>
        <p:spPr>
          <a:xfrm>
            <a:off x="1965960" y="6053328"/>
            <a:ext cx="38862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Actor</a:t>
            </a:r>
            <a:endParaRPr lang="en-US" sz="1000" dirty="0"/>
          </a:p>
        </p:txBody>
      </p:sp>
      <p:sp>
        <p:nvSpPr>
          <p:cNvPr id="9" name="Shape 6"/>
          <p:cNvSpPr/>
          <p:nvPr/>
        </p:nvSpPr>
        <p:spPr>
          <a:xfrm>
            <a:off x="2583180" y="6108192"/>
            <a:ext cx="292608" cy="146304"/>
          </a:xfrm>
          <a:prstGeom prst="rect">
            <a:avLst/>
          </a:prstGeom>
          <a:solidFill>
            <a:srgbClr val="F5F5F5"/>
          </a:solidFill>
          <a:ln w="12700">
            <a:solidFill>
              <a:srgbClr val="666666"/>
            </a:solidFill>
            <a:prstDash val="dash"/>
          </a:ln>
        </p:spPr>
      </p:sp>
      <p:sp>
        <p:nvSpPr>
          <p:cNvPr id="10" name="Text 7"/>
          <p:cNvSpPr/>
          <p:nvPr/>
        </p:nvSpPr>
        <p:spPr>
          <a:xfrm>
            <a:off x="2948940" y="6053328"/>
            <a:ext cx="107442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External system</a:t>
            </a:r>
            <a:endParaRPr lang="en-US" sz="1000" dirty="0"/>
          </a:p>
        </p:txBody>
      </p:sp>
      <p:sp>
        <p:nvSpPr>
          <p:cNvPr id="11" name="Shape 8"/>
          <p:cNvSpPr/>
          <p:nvPr/>
        </p:nvSpPr>
        <p:spPr>
          <a:xfrm>
            <a:off x="4251960" y="6181344"/>
            <a:ext cx="320040" cy="0"/>
          </a:xfrm>
          <a:prstGeom prst="line">
            <a:avLst/>
          </a:prstGeom>
          <a:noFill/>
          <a:ln w="25400">
            <a:solidFill>
              <a:srgbClr val="333333"/>
            </a:solidFill>
            <a:prstDash val="solid"/>
            <a:tailEnd type="triangle"/>
          </a:ln>
        </p:spPr>
      </p:sp>
      <p:sp>
        <p:nvSpPr>
          <p:cNvPr id="12" name="Text 9"/>
          <p:cNvSpPr/>
          <p:nvPr/>
        </p:nvSpPr>
        <p:spPr>
          <a:xfrm>
            <a:off x="4617720" y="6053328"/>
            <a:ext cx="3200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Uses</a:t>
            </a:r>
            <a:endParaRPr lang="en-US" sz="1000" dirty="0"/>
          </a:p>
        </p:txBody>
      </p:sp>
      <p:sp>
        <p:nvSpPr>
          <p:cNvPr id="13" name="Shape 10"/>
          <p:cNvSpPr/>
          <p:nvPr/>
        </p:nvSpPr>
        <p:spPr>
          <a:xfrm>
            <a:off x="5166360" y="6181344"/>
            <a:ext cx="320040" cy="0"/>
          </a:xfrm>
          <a:prstGeom prst="line">
            <a:avLst/>
          </a:prstGeom>
          <a:noFill/>
          <a:ln w="25400">
            <a:solidFill>
              <a:srgbClr val="333333"/>
            </a:solidFill>
            <a:prstDash val="dash"/>
            <a:tailEnd type="triangle"/>
          </a:ln>
        </p:spPr>
      </p:sp>
      <p:sp>
        <p:nvSpPr>
          <p:cNvPr id="14" name="Text 11"/>
          <p:cNvSpPr/>
          <p:nvPr/>
        </p:nvSpPr>
        <p:spPr>
          <a:xfrm>
            <a:off x="5532120" y="6053328"/>
            <a:ext cx="128016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Includes / extends</a:t>
            </a:r>
            <a:endParaRPr lang="en-US" sz="1000" dirty="0"/>
          </a:p>
        </p:txBody>
      </p:sp>
      <p:sp>
        <p:nvSpPr>
          <p:cNvPr id="25" name="Slide Number Placeholder 0"/>
          <p:cNvSpPr>
            <a:spLocks noGrp="1"/>
          </p:cNvSpPr>
          <p:nvPr>
            <p:ph type="sldNum" sz="quarter" idx="4294967295"/>
          </p:nvPr>
        </p:nvSpPr>
        <p:spPr>
          <a:xfrm>
            <a:off x="11368735"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p:nvPr/>
        </p:nvSpPr>
        <p:spPr>
          <a:xfrm>
            <a:off x="411480" y="182880"/>
            <a:ext cx="11368735" cy="548640"/>
          </a:xfrm>
          <a:prstGeom prst="rect">
            <a:avLst/>
          </a:prstGeom>
          <a:noFill/>
          <a:ln/>
        </p:spPr>
        <p:txBody>
          <a:bodyPr wrap="square" lIns="0" tIns="0" rIns="0" bIns="0" rtlCol="0" anchor="ctr"/>
          <a:lstStyle/>
          <a:p>
            <a:pPr indent="0" marL="0">
              <a:buNone/>
            </a:pPr>
            <a:r>
              <a:rPr lang="en-US" sz="2800" b="1" dirty="0">
                <a:solidFill>
                  <a:srgbClr val="1F3A68"/>
                </a:solidFill>
                <a:latin typeface="Calibri" pitchFamily="34" charset="0"/>
                <a:ea typeface="Calibri" pitchFamily="34" charset="-122"/>
                <a:cs typeface="Calibri" pitchFamily="34" charset="-120"/>
              </a:rPr>
              <a:t>Use cases: Clinic staff functions</a:t>
            </a:r>
            <a:endParaRPr lang="en-US" sz="2800" dirty="0"/>
          </a:p>
        </p:txBody>
      </p:sp>
      <p:sp>
        <p:nvSpPr>
          <p:cNvPr id="3" name="Message"/>
          <p:cNvSpPr/>
          <p:nvPr/>
        </p:nvSpPr>
        <p:spPr>
          <a:xfrm>
            <a:off x="411480" y="731520"/>
            <a:ext cx="11368735" cy="320040"/>
          </a:xfrm>
          <a:prstGeom prst="rect">
            <a:avLst/>
          </a:prstGeom>
          <a:noFill/>
          <a:ln/>
        </p:spPr>
        <p:txBody>
          <a:bodyPr wrap="square" lIns="0" tIns="0" rIns="0" bIns="0" rtlCol="0" anchor="ctr"/>
          <a:lstStyle/>
          <a:p>
            <a:pPr indent="0" marL="0">
              <a:buNone/>
            </a:pPr>
            <a:r>
              <a:rPr lang="en-US" sz="1500" dirty="0">
                <a:solidFill>
                  <a:srgbClr val="5A6478"/>
                </a:solidFill>
                <a:latin typeface="Calibri" pitchFamily="34" charset="0"/>
                <a:ea typeface="Calibri" pitchFamily="34" charset="-122"/>
                <a:cs typeface="Calibri" pitchFamily="34" charset="-120"/>
              </a:rPr>
              <a:t>Receptionists run schedules, check-in and refunds</a:t>
            </a:r>
            <a:endParaRPr lang="en-US" sz="1500" dirty="0"/>
          </a:p>
        </p:txBody>
      </p:sp>
      <p:pic>
        <p:nvPicPr>
          <p:cNvPr id="4" name="Image 0" descr="examples/clinic-booking/design/deck/assets/06-use-cases-p2.png">    </p:cNvPr>
          <p:cNvPicPr>
            <a:picLocks noChangeAspect="1"/>
          </p:cNvPicPr>
          <p:nvPr/>
        </p:nvPicPr>
        <p:blipFill>
          <a:blip r:embed="rId1"/>
          <a:stretch>
            <a:fillRect/>
          </a:stretch>
        </p:blipFill>
        <p:spPr>
          <a:xfrm>
            <a:off x="411480" y="1544508"/>
            <a:ext cx="11368735" cy="4125600"/>
          </a:xfrm>
          <a:prstGeom prst="rect">
            <a:avLst/>
          </a:prstGeom>
        </p:spPr>
      </p:pic>
      <p:sp>
        <p:nvSpPr>
          <p:cNvPr id="5" name="Shape 2"/>
          <p:cNvSpPr/>
          <p:nvPr/>
        </p:nvSpPr>
        <p:spPr>
          <a:xfrm>
            <a:off x="411480" y="6108192"/>
            <a:ext cx="292608" cy="146304"/>
          </a:xfrm>
          <a:prstGeom prst="rect">
            <a:avLst/>
          </a:prstGeom>
          <a:solidFill>
            <a:srgbClr val="FFFFFF"/>
          </a:solidFill>
          <a:ln w="12700">
            <a:solidFill>
              <a:srgbClr val="333333"/>
            </a:solidFill>
            <a:prstDash val="solid"/>
          </a:ln>
        </p:spPr>
      </p:sp>
      <p:sp>
        <p:nvSpPr>
          <p:cNvPr id="6" name="Text 3"/>
          <p:cNvSpPr/>
          <p:nvPr/>
        </p:nvSpPr>
        <p:spPr>
          <a:xfrm>
            <a:off x="777240" y="6053328"/>
            <a:ext cx="59436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Use case</a:t>
            </a:r>
            <a:endParaRPr lang="en-US" sz="1000" dirty="0"/>
          </a:p>
        </p:txBody>
      </p:sp>
      <p:sp>
        <p:nvSpPr>
          <p:cNvPr id="7" name="Shape 4"/>
          <p:cNvSpPr/>
          <p:nvPr/>
        </p:nvSpPr>
        <p:spPr>
          <a:xfrm>
            <a:off x="1600200" y="6108192"/>
            <a:ext cx="292608" cy="146304"/>
          </a:xfrm>
          <a:prstGeom prst="rect">
            <a:avLst/>
          </a:prstGeom>
          <a:solidFill>
            <a:srgbClr val="FFFFFF"/>
          </a:solidFill>
          <a:ln w="12700">
            <a:solidFill>
              <a:srgbClr val="333333"/>
            </a:solidFill>
            <a:prstDash val="solid"/>
          </a:ln>
        </p:spPr>
      </p:sp>
      <p:sp>
        <p:nvSpPr>
          <p:cNvPr id="8" name="Text 5"/>
          <p:cNvSpPr/>
          <p:nvPr/>
        </p:nvSpPr>
        <p:spPr>
          <a:xfrm>
            <a:off x="1965960" y="6053328"/>
            <a:ext cx="38862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Actor</a:t>
            </a:r>
            <a:endParaRPr lang="en-US" sz="1000" dirty="0"/>
          </a:p>
        </p:txBody>
      </p:sp>
      <p:sp>
        <p:nvSpPr>
          <p:cNvPr id="9" name="Shape 6"/>
          <p:cNvSpPr/>
          <p:nvPr/>
        </p:nvSpPr>
        <p:spPr>
          <a:xfrm>
            <a:off x="2583180" y="6108192"/>
            <a:ext cx="292608" cy="146304"/>
          </a:xfrm>
          <a:prstGeom prst="rect">
            <a:avLst/>
          </a:prstGeom>
          <a:solidFill>
            <a:srgbClr val="F5F5F5"/>
          </a:solidFill>
          <a:ln w="12700">
            <a:solidFill>
              <a:srgbClr val="666666"/>
            </a:solidFill>
            <a:prstDash val="dash"/>
          </a:ln>
        </p:spPr>
      </p:sp>
      <p:sp>
        <p:nvSpPr>
          <p:cNvPr id="10" name="Text 7"/>
          <p:cNvSpPr/>
          <p:nvPr/>
        </p:nvSpPr>
        <p:spPr>
          <a:xfrm>
            <a:off x="2948940" y="6053328"/>
            <a:ext cx="107442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External system</a:t>
            </a:r>
            <a:endParaRPr lang="en-US" sz="1000" dirty="0"/>
          </a:p>
        </p:txBody>
      </p:sp>
      <p:sp>
        <p:nvSpPr>
          <p:cNvPr id="11" name="Shape 8"/>
          <p:cNvSpPr/>
          <p:nvPr/>
        </p:nvSpPr>
        <p:spPr>
          <a:xfrm>
            <a:off x="4251960" y="6181344"/>
            <a:ext cx="320040" cy="0"/>
          </a:xfrm>
          <a:prstGeom prst="line">
            <a:avLst/>
          </a:prstGeom>
          <a:noFill/>
          <a:ln w="25400">
            <a:solidFill>
              <a:srgbClr val="333333"/>
            </a:solidFill>
            <a:prstDash val="solid"/>
            <a:tailEnd type="triangle"/>
          </a:ln>
        </p:spPr>
      </p:sp>
      <p:sp>
        <p:nvSpPr>
          <p:cNvPr id="12" name="Text 9"/>
          <p:cNvSpPr/>
          <p:nvPr/>
        </p:nvSpPr>
        <p:spPr>
          <a:xfrm>
            <a:off x="4617720" y="6053328"/>
            <a:ext cx="3200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Uses</a:t>
            </a:r>
            <a:endParaRPr lang="en-US" sz="1000" dirty="0"/>
          </a:p>
        </p:txBody>
      </p:sp>
      <p:sp>
        <p:nvSpPr>
          <p:cNvPr id="25" name="Slide Number Placeholder 0"/>
          <p:cNvSpPr>
            <a:spLocks noGrp="1"/>
          </p:cNvSpPr>
          <p:nvPr>
            <p:ph type="sldNum" sz="quarter" idx="4294967295"/>
          </p:nvPr>
        </p:nvSpPr>
        <p:spPr>
          <a:xfrm>
            <a:off x="11368735"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p:nvPr/>
        </p:nvSpPr>
        <p:spPr>
          <a:xfrm>
            <a:off x="411480" y="182880"/>
            <a:ext cx="11368735" cy="548640"/>
          </a:xfrm>
          <a:prstGeom prst="rect">
            <a:avLst/>
          </a:prstGeom>
          <a:noFill/>
          <a:ln/>
        </p:spPr>
        <p:txBody>
          <a:bodyPr wrap="square" lIns="0" tIns="0" rIns="0" bIns="0" rtlCol="0" anchor="ctr"/>
          <a:lstStyle/>
          <a:p>
            <a:pPr indent="0" marL="0">
              <a:buNone/>
            </a:pPr>
            <a:r>
              <a:rPr lang="en-US" sz="2800" b="1" dirty="0">
                <a:solidFill>
                  <a:srgbClr val="1F3A68"/>
                </a:solidFill>
                <a:latin typeface="Calibri" pitchFamily="34" charset="0"/>
                <a:ea typeface="Calibri" pitchFamily="34" charset="-122"/>
                <a:cs typeface="Calibri" pitchFamily="34" charset="-120"/>
              </a:rPr>
              <a:t>Use cases: Administration functions</a:t>
            </a:r>
            <a:endParaRPr lang="en-US" sz="2800" dirty="0"/>
          </a:p>
        </p:txBody>
      </p:sp>
      <p:sp>
        <p:nvSpPr>
          <p:cNvPr id="3" name="Message"/>
          <p:cNvSpPr/>
          <p:nvPr/>
        </p:nvSpPr>
        <p:spPr>
          <a:xfrm>
            <a:off x="411480" y="731520"/>
            <a:ext cx="11368735" cy="320040"/>
          </a:xfrm>
          <a:prstGeom prst="rect">
            <a:avLst/>
          </a:prstGeom>
          <a:noFill/>
          <a:ln/>
        </p:spPr>
        <p:txBody>
          <a:bodyPr wrap="square" lIns="0" tIns="0" rIns="0" bIns="0" rtlCol="0" anchor="ctr"/>
          <a:lstStyle/>
          <a:p>
            <a:pPr indent="0" marL="0">
              <a:buNone/>
            </a:pPr>
            <a:r>
              <a:rPr lang="en-US" sz="1500" dirty="0">
                <a:solidFill>
                  <a:srgbClr val="5A6478"/>
                </a:solidFill>
                <a:latin typeface="Calibri" pitchFamily="34" charset="0"/>
                <a:ea typeface="Calibri" pitchFamily="34" charset="-122"/>
                <a:cs typeface="Calibri" pitchFamily="34" charset="-120"/>
              </a:rPr>
              <a:t>Administrators manage clinics, staff and roles, reports and reminder templates</a:t>
            </a:r>
            <a:endParaRPr lang="en-US" sz="1500" dirty="0"/>
          </a:p>
        </p:txBody>
      </p:sp>
      <p:pic>
        <p:nvPicPr>
          <p:cNvPr id="4" name="Image 0" descr="examples/clinic-booking/design/deck/assets/06-use-cases-p3.png">    </p:cNvPr>
          <p:cNvPicPr>
            <a:picLocks noChangeAspect="1"/>
          </p:cNvPicPr>
          <p:nvPr/>
        </p:nvPicPr>
        <p:blipFill>
          <a:blip r:embed="rId1"/>
          <a:stretch>
            <a:fillRect/>
          </a:stretch>
        </p:blipFill>
        <p:spPr>
          <a:xfrm>
            <a:off x="411480" y="1238582"/>
            <a:ext cx="11368735" cy="4737453"/>
          </a:xfrm>
          <a:prstGeom prst="rect">
            <a:avLst/>
          </a:prstGeom>
        </p:spPr>
      </p:pic>
      <p:sp>
        <p:nvSpPr>
          <p:cNvPr id="5" name="Shape 2"/>
          <p:cNvSpPr/>
          <p:nvPr/>
        </p:nvSpPr>
        <p:spPr>
          <a:xfrm>
            <a:off x="411480" y="6108192"/>
            <a:ext cx="292608" cy="146304"/>
          </a:xfrm>
          <a:prstGeom prst="rect">
            <a:avLst/>
          </a:prstGeom>
          <a:solidFill>
            <a:srgbClr val="FFFFFF"/>
          </a:solidFill>
          <a:ln w="12700">
            <a:solidFill>
              <a:srgbClr val="333333"/>
            </a:solidFill>
            <a:prstDash val="solid"/>
          </a:ln>
        </p:spPr>
      </p:sp>
      <p:sp>
        <p:nvSpPr>
          <p:cNvPr id="6" name="Text 3"/>
          <p:cNvSpPr/>
          <p:nvPr/>
        </p:nvSpPr>
        <p:spPr>
          <a:xfrm>
            <a:off x="777240" y="6053328"/>
            <a:ext cx="59436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Use case</a:t>
            </a:r>
            <a:endParaRPr lang="en-US" sz="1000" dirty="0"/>
          </a:p>
        </p:txBody>
      </p:sp>
      <p:sp>
        <p:nvSpPr>
          <p:cNvPr id="7" name="Shape 4"/>
          <p:cNvSpPr/>
          <p:nvPr/>
        </p:nvSpPr>
        <p:spPr>
          <a:xfrm>
            <a:off x="1600200" y="6108192"/>
            <a:ext cx="292608" cy="146304"/>
          </a:xfrm>
          <a:prstGeom prst="rect">
            <a:avLst/>
          </a:prstGeom>
          <a:solidFill>
            <a:srgbClr val="FFFFFF"/>
          </a:solidFill>
          <a:ln w="12700">
            <a:solidFill>
              <a:srgbClr val="333333"/>
            </a:solidFill>
            <a:prstDash val="solid"/>
          </a:ln>
        </p:spPr>
      </p:sp>
      <p:sp>
        <p:nvSpPr>
          <p:cNvPr id="8" name="Text 5"/>
          <p:cNvSpPr/>
          <p:nvPr/>
        </p:nvSpPr>
        <p:spPr>
          <a:xfrm>
            <a:off x="1965960" y="6053328"/>
            <a:ext cx="38862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Actor</a:t>
            </a:r>
            <a:endParaRPr lang="en-US" sz="1000" dirty="0"/>
          </a:p>
        </p:txBody>
      </p:sp>
      <p:sp>
        <p:nvSpPr>
          <p:cNvPr id="9" name="Shape 6"/>
          <p:cNvSpPr/>
          <p:nvPr/>
        </p:nvSpPr>
        <p:spPr>
          <a:xfrm>
            <a:off x="2583180" y="6108192"/>
            <a:ext cx="292608" cy="146304"/>
          </a:xfrm>
          <a:prstGeom prst="rect">
            <a:avLst/>
          </a:prstGeom>
          <a:solidFill>
            <a:srgbClr val="F5F5F5"/>
          </a:solidFill>
          <a:ln w="12700">
            <a:solidFill>
              <a:srgbClr val="666666"/>
            </a:solidFill>
            <a:prstDash val="dash"/>
          </a:ln>
        </p:spPr>
      </p:sp>
      <p:sp>
        <p:nvSpPr>
          <p:cNvPr id="10" name="Text 7"/>
          <p:cNvSpPr/>
          <p:nvPr/>
        </p:nvSpPr>
        <p:spPr>
          <a:xfrm>
            <a:off x="2948940" y="6053328"/>
            <a:ext cx="107442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External system</a:t>
            </a:r>
            <a:endParaRPr lang="en-US" sz="1000" dirty="0"/>
          </a:p>
        </p:txBody>
      </p:sp>
      <p:sp>
        <p:nvSpPr>
          <p:cNvPr id="11" name="Shape 8"/>
          <p:cNvSpPr/>
          <p:nvPr/>
        </p:nvSpPr>
        <p:spPr>
          <a:xfrm>
            <a:off x="4251960" y="6181344"/>
            <a:ext cx="320040" cy="0"/>
          </a:xfrm>
          <a:prstGeom prst="line">
            <a:avLst/>
          </a:prstGeom>
          <a:noFill/>
          <a:ln w="25400">
            <a:solidFill>
              <a:srgbClr val="333333"/>
            </a:solidFill>
            <a:prstDash val="solid"/>
            <a:tailEnd type="triangle"/>
          </a:ln>
        </p:spPr>
      </p:sp>
      <p:sp>
        <p:nvSpPr>
          <p:cNvPr id="12" name="Text 9"/>
          <p:cNvSpPr/>
          <p:nvPr/>
        </p:nvSpPr>
        <p:spPr>
          <a:xfrm>
            <a:off x="4617720" y="6053328"/>
            <a:ext cx="3200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Uses</a:t>
            </a:r>
            <a:endParaRPr lang="en-US" sz="1000" dirty="0"/>
          </a:p>
        </p:txBody>
      </p:sp>
      <p:sp>
        <p:nvSpPr>
          <p:cNvPr id="25" name="Slide Number Placeholder 0"/>
          <p:cNvSpPr>
            <a:spLocks noGrp="1"/>
          </p:cNvSpPr>
          <p:nvPr>
            <p:ph type="sldNum" sz="quarter" idx="4294967295"/>
          </p:nvPr>
        </p:nvSpPr>
        <p:spPr>
          <a:xfrm>
            <a:off x="11368735"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p:nvPr/>
        </p:nvSpPr>
        <p:spPr>
          <a:xfrm>
            <a:off x="411480" y="182880"/>
            <a:ext cx="11368735" cy="548640"/>
          </a:xfrm>
          <a:prstGeom prst="rect">
            <a:avLst/>
          </a:prstGeom>
          <a:noFill/>
          <a:ln/>
        </p:spPr>
        <p:txBody>
          <a:bodyPr wrap="square" lIns="0" tIns="0" rIns="0" bIns="0" rtlCol="0" anchor="ctr"/>
          <a:lstStyle/>
          <a:p>
            <a:pPr indent="0" marL="0">
              <a:buNone/>
            </a:pPr>
            <a:r>
              <a:rPr lang="en-US" sz="2800" b="1" dirty="0">
                <a:solidFill>
                  <a:srgbClr val="1F3A68"/>
                </a:solidFill>
                <a:latin typeface="Calibri" pitchFamily="34" charset="0"/>
                <a:ea typeface="Calibri" pitchFamily="34" charset="-122"/>
                <a:cs typeface="Calibri" pitchFamily="34" charset="-120"/>
              </a:rPr>
              <a:t>Logical view</a:t>
            </a:r>
            <a:endParaRPr lang="en-US" sz="2800" dirty="0"/>
          </a:p>
        </p:txBody>
      </p:sp>
      <p:sp>
        <p:nvSpPr>
          <p:cNvPr id="3" name="Message"/>
          <p:cNvSpPr/>
          <p:nvPr/>
        </p:nvSpPr>
        <p:spPr>
          <a:xfrm>
            <a:off x="411480" y="731520"/>
            <a:ext cx="11368735" cy="320040"/>
          </a:xfrm>
          <a:prstGeom prst="rect">
            <a:avLst/>
          </a:prstGeom>
          <a:noFill/>
          <a:ln/>
        </p:spPr>
        <p:txBody>
          <a:bodyPr wrap="square" lIns="0" tIns="0" rIns="0" bIns="0" rtlCol="0" anchor="ctr"/>
          <a:lstStyle/>
          <a:p>
            <a:pPr indent="0" marL="0">
              <a:buNone/>
            </a:pPr>
            <a:r>
              <a:rPr lang="en-US" sz="1500" dirty="0">
                <a:solidFill>
                  <a:srgbClr val="5A6478"/>
                </a:solidFill>
                <a:latin typeface="Calibri" pitchFamily="34" charset="0"/>
                <a:ea typeface="Calibri" pitchFamily="34" charset="-122"/>
                <a:cs typeface="Calibri" pitchFamily="34" charset="-120"/>
              </a:rPr>
              <a:t>Every request passes one gateway and the identity provider; every service owns its data</a:t>
            </a:r>
            <a:endParaRPr lang="en-US" sz="1500" dirty="0"/>
          </a:p>
        </p:txBody>
      </p:sp>
      <p:pic>
        <p:nvPicPr>
          <p:cNvPr id="4" name="Image 0" descr="examples/clinic-booking/design/deck/assets/07-logical-view-p1.png">    </p:cNvPr>
          <p:cNvPicPr>
            <a:picLocks noChangeAspect="1"/>
          </p:cNvPicPr>
          <p:nvPr/>
        </p:nvPicPr>
        <p:blipFill>
          <a:blip r:embed="rId1"/>
          <a:stretch>
            <a:fillRect/>
          </a:stretch>
        </p:blipFill>
        <p:spPr>
          <a:xfrm>
            <a:off x="4048032" y="1188720"/>
            <a:ext cx="4095631" cy="4599432"/>
          </a:xfrm>
          <a:prstGeom prst="rect">
            <a:avLst/>
          </a:prstGeom>
        </p:spPr>
      </p:pic>
      <p:sp>
        <p:nvSpPr>
          <p:cNvPr id="5" name="Shape 2"/>
          <p:cNvSpPr/>
          <p:nvPr/>
        </p:nvSpPr>
        <p:spPr>
          <a:xfrm>
            <a:off x="411480" y="5870448"/>
            <a:ext cx="292608" cy="146304"/>
          </a:xfrm>
          <a:prstGeom prst="rect">
            <a:avLst/>
          </a:prstGeom>
          <a:solidFill>
            <a:srgbClr val="F5F5F5"/>
          </a:solidFill>
          <a:ln w="12700">
            <a:solidFill>
              <a:srgbClr val="666666"/>
            </a:solidFill>
            <a:prstDash val="solid"/>
          </a:ln>
        </p:spPr>
      </p:sp>
      <p:sp>
        <p:nvSpPr>
          <p:cNvPr id="6" name="Text 3"/>
          <p:cNvSpPr/>
          <p:nvPr/>
        </p:nvSpPr>
        <p:spPr>
          <a:xfrm>
            <a:off x="777240" y="5815584"/>
            <a:ext cx="45720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Client</a:t>
            </a:r>
            <a:endParaRPr lang="en-US" sz="1000" dirty="0"/>
          </a:p>
        </p:txBody>
      </p:sp>
      <p:sp>
        <p:nvSpPr>
          <p:cNvPr id="7" name="Shape 4"/>
          <p:cNvSpPr/>
          <p:nvPr/>
        </p:nvSpPr>
        <p:spPr>
          <a:xfrm>
            <a:off x="1463040" y="5870448"/>
            <a:ext cx="292608" cy="146304"/>
          </a:xfrm>
          <a:prstGeom prst="rect">
            <a:avLst/>
          </a:prstGeom>
          <a:solidFill>
            <a:srgbClr val="FFE6CC"/>
          </a:solidFill>
          <a:ln w="12700">
            <a:solidFill>
              <a:srgbClr val="D79B00"/>
            </a:solidFill>
            <a:prstDash val="solid"/>
          </a:ln>
        </p:spPr>
      </p:sp>
      <p:sp>
        <p:nvSpPr>
          <p:cNvPr id="8" name="Text 5"/>
          <p:cNvSpPr/>
          <p:nvPr/>
        </p:nvSpPr>
        <p:spPr>
          <a:xfrm>
            <a:off x="1828800" y="5815584"/>
            <a:ext cx="80010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API gateway</a:t>
            </a:r>
            <a:endParaRPr lang="en-US" sz="1000" dirty="0"/>
          </a:p>
        </p:txBody>
      </p:sp>
      <p:sp>
        <p:nvSpPr>
          <p:cNvPr id="9" name="Shape 6"/>
          <p:cNvSpPr/>
          <p:nvPr/>
        </p:nvSpPr>
        <p:spPr>
          <a:xfrm>
            <a:off x="2857500" y="5870448"/>
            <a:ext cx="292608" cy="146304"/>
          </a:xfrm>
          <a:prstGeom prst="rect">
            <a:avLst/>
          </a:prstGeom>
          <a:solidFill>
            <a:srgbClr val="F8CECC"/>
          </a:solidFill>
          <a:ln w="12700">
            <a:solidFill>
              <a:srgbClr val="B85450"/>
            </a:solidFill>
            <a:prstDash val="solid"/>
          </a:ln>
        </p:spPr>
      </p:sp>
      <p:sp>
        <p:nvSpPr>
          <p:cNvPr id="10" name="Text 7"/>
          <p:cNvSpPr/>
          <p:nvPr/>
        </p:nvSpPr>
        <p:spPr>
          <a:xfrm>
            <a:off x="3223260" y="5815584"/>
            <a:ext cx="121158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Identity provider</a:t>
            </a:r>
            <a:endParaRPr lang="en-US" sz="1000" dirty="0"/>
          </a:p>
        </p:txBody>
      </p:sp>
      <p:sp>
        <p:nvSpPr>
          <p:cNvPr id="11" name="Shape 8"/>
          <p:cNvSpPr/>
          <p:nvPr/>
        </p:nvSpPr>
        <p:spPr>
          <a:xfrm>
            <a:off x="4663440" y="5870448"/>
            <a:ext cx="292608" cy="146304"/>
          </a:xfrm>
          <a:prstGeom prst="rect">
            <a:avLst/>
          </a:prstGeom>
          <a:solidFill>
            <a:srgbClr val="DAE8FC"/>
          </a:solidFill>
          <a:ln w="12700">
            <a:solidFill>
              <a:srgbClr val="6C8EBF"/>
            </a:solidFill>
            <a:prstDash val="solid"/>
          </a:ln>
        </p:spPr>
      </p:sp>
      <p:sp>
        <p:nvSpPr>
          <p:cNvPr id="12" name="Text 9"/>
          <p:cNvSpPr/>
          <p:nvPr/>
        </p:nvSpPr>
        <p:spPr>
          <a:xfrm>
            <a:off x="5029200" y="5815584"/>
            <a:ext cx="10058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Core subdomain</a:t>
            </a:r>
            <a:endParaRPr lang="en-US" sz="1000" dirty="0"/>
          </a:p>
        </p:txBody>
      </p:sp>
      <p:sp>
        <p:nvSpPr>
          <p:cNvPr id="13" name="Shape 10"/>
          <p:cNvSpPr/>
          <p:nvPr/>
        </p:nvSpPr>
        <p:spPr>
          <a:xfrm>
            <a:off x="6263640" y="5870448"/>
            <a:ext cx="292608" cy="146304"/>
          </a:xfrm>
          <a:prstGeom prst="rect">
            <a:avLst/>
          </a:prstGeom>
          <a:solidFill>
            <a:srgbClr val="D5E8D4"/>
          </a:solidFill>
          <a:ln w="12700">
            <a:solidFill>
              <a:srgbClr val="82B366"/>
            </a:solidFill>
            <a:prstDash val="solid"/>
          </a:ln>
        </p:spPr>
      </p:sp>
      <p:sp>
        <p:nvSpPr>
          <p:cNvPr id="14" name="Text 11"/>
          <p:cNvSpPr/>
          <p:nvPr/>
        </p:nvSpPr>
        <p:spPr>
          <a:xfrm>
            <a:off x="6629400" y="5815584"/>
            <a:ext cx="141732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Supporting subdomain</a:t>
            </a:r>
            <a:endParaRPr lang="en-US" sz="1000" dirty="0"/>
          </a:p>
        </p:txBody>
      </p:sp>
      <p:sp>
        <p:nvSpPr>
          <p:cNvPr id="15" name="Shape 12"/>
          <p:cNvSpPr/>
          <p:nvPr/>
        </p:nvSpPr>
        <p:spPr>
          <a:xfrm>
            <a:off x="8275320" y="5870448"/>
            <a:ext cx="292608" cy="146304"/>
          </a:xfrm>
          <a:prstGeom prst="rect">
            <a:avLst/>
          </a:prstGeom>
          <a:solidFill>
            <a:srgbClr val="E1D5E7"/>
          </a:solidFill>
          <a:ln w="12700">
            <a:solidFill>
              <a:srgbClr val="9673A6"/>
            </a:solidFill>
            <a:prstDash val="solid"/>
          </a:ln>
        </p:spPr>
      </p:sp>
      <p:sp>
        <p:nvSpPr>
          <p:cNvPr id="16" name="Text 13"/>
          <p:cNvSpPr/>
          <p:nvPr/>
        </p:nvSpPr>
        <p:spPr>
          <a:xfrm>
            <a:off x="8641080" y="5815584"/>
            <a:ext cx="121158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Generic subdomain</a:t>
            </a:r>
            <a:endParaRPr lang="en-US" sz="1000" dirty="0"/>
          </a:p>
        </p:txBody>
      </p:sp>
      <p:sp>
        <p:nvSpPr>
          <p:cNvPr id="17" name="Shape 14"/>
          <p:cNvSpPr/>
          <p:nvPr/>
        </p:nvSpPr>
        <p:spPr>
          <a:xfrm>
            <a:off x="10081260" y="5870448"/>
            <a:ext cx="292608" cy="146304"/>
          </a:xfrm>
          <a:prstGeom prst="rect">
            <a:avLst/>
          </a:prstGeom>
          <a:solidFill>
            <a:srgbClr val="FFE6CC"/>
          </a:solidFill>
          <a:ln w="12700">
            <a:solidFill>
              <a:srgbClr val="D79B00"/>
            </a:solidFill>
            <a:prstDash val="solid"/>
          </a:ln>
        </p:spPr>
      </p:sp>
      <p:sp>
        <p:nvSpPr>
          <p:cNvPr id="18" name="Text 15"/>
          <p:cNvSpPr/>
          <p:nvPr/>
        </p:nvSpPr>
        <p:spPr>
          <a:xfrm>
            <a:off x="10447020" y="5815584"/>
            <a:ext cx="10058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Message broker</a:t>
            </a:r>
            <a:endParaRPr lang="en-US" sz="1000" dirty="0"/>
          </a:p>
        </p:txBody>
      </p:sp>
      <p:sp>
        <p:nvSpPr>
          <p:cNvPr id="19" name="Shape 16"/>
          <p:cNvSpPr/>
          <p:nvPr/>
        </p:nvSpPr>
        <p:spPr>
          <a:xfrm>
            <a:off x="411480" y="6108192"/>
            <a:ext cx="292608" cy="146304"/>
          </a:xfrm>
          <a:prstGeom prst="rect">
            <a:avLst/>
          </a:prstGeom>
          <a:solidFill>
            <a:srgbClr val="FFE6CC"/>
          </a:solidFill>
          <a:ln w="12700">
            <a:solidFill>
              <a:srgbClr val="D79B00"/>
            </a:solidFill>
            <a:prstDash val="solid"/>
          </a:ln>
        </p:spPr>
      </p:sp>
      <p:sp>
        <p:nvSpPr>
          <p:cNvPr id="20" name="Text 17"/>
          <p:cNvSpPr/>
          <p:nvPr/>
        </p:nvSpPr>
        <p:spPr>
          <a:xfrm>
            <a:off x="777240" y="6053328"/>
            <a:ext cx="73152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Data store</a:t>
            </a:r>
            <a:endParaRPr lang="en-US" sz="1000" dirty="0"/>
          </a:p>
        </p:txBody>
      </p:sp>
      <p:sp>
        <p:nvSpPr>
          <p:cNvPr id="21" name="Shape 18"/>
          <p:cNvSpPr/>
          <p:nvPr/>
        </p:nvSpPr>
        <p:spPr>
          <a:xfrm>
            <a:off x="1737360" y="6108192"/>
            <a:ext cx="292608" cy="146304"/>
          </a:xfrm>
          <a:prstGeom prst="rect">
            <a:avLst/>
          </a:prstGeom>
          <a:solidFill>
            <a:srgbClr val="F5F5F5"/>
          </a:solidFill>
          <a:ln w="12700">
            <a:solidFill>
              <a:srgbClr val="666666"/>
            </a:solidFill>
            <a:prstDash val="dash"/>
          </a:ln>
        </p:spPr>
      </p:sp>
      <p:sp>
        <p:nvSpPr>
          <p:cNvPr id="22" name="Text 19"/>
          <p:cNvSpPr/>
          <p:nvPr/>
        </p:nvSpPr>
        <p:spPr>
          <a:xfrm>
            <a:off x="2103120" y="6053328"/>
            <a:ext cx="107442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External system</a:t>
            </a:r>
            <a:endParaRPr lang="en-US" sz="1000" dirty="0"/>
          </a:p>
        </p:txBody>
      </p:sp>
      <p:sp>
        <p:nvSpPr>
          <p:cNvPr id="23" name="Shape 20"/>
          <p:cNvSpPr/>
          <p:nvPr/>
        </p:nvSpPr>
        <p:spPr>
          <a:xfrm>
            <a:off x="3406140" y="6181344"/>
            <a:ext cx="320040" cy="0"/>
          </a:xfrm>
          <a:prstGeom prst="line">
            <a:avLst/>
          </a:prstGeom>
          <a:noFill/>
          <a:ln w="25400">
            <a:solidFill>
              <a:srgbClr val="7B1FA2"/>
            </a:solidFill>
            <a:prstDash val="solid"/>
            <a:tailEnd type="triangle"/>
          </a:ln>
        </p:spPr>
      </p:sp>
      <p:sp>
        <p:nvSpPr>
          <p:cNvPr id="24" name="Text 21"/>
          <p:cNvSpPr/>
          <p:nvPr/>
        </p:nvSpPr>
        <p:spPr>
          <a:xfrm>
            <a:off x="3771900" y="6053328"/>
            <a:ext cx="10058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Authentication</a:t>
            </a:r>
            <a:endParaRPr lang="en-US" sz="1000" dirty="0"/>
          </a:p>
        </p:txBody>
      </p:sp>
      <p:sp>
        <p:nvSpPr>
          <p:cNvPr id="25" name="Shape 22"/>
          <p:cNvSpPr/>
          <p:nvPr/>
        </p:nvSpPr>
        <p:spPr>
          <a:xfrm>
            <a:off x="5006340" y="6181344"/>
            <a:ext cx="320040" cy="0"/>
          </a:xfrm>
          <a:prstGeom prst="line">
            <a:avLst/>
          </a:prstGeom>
          <a:noFill/>
          <a:ln w="25400">
            <a:solidFill>
              <a:srgbClr val="1A73E8"/>
            </a:solidFill>
            <a:prstDash val="solid"/>
            <a:tailEnd type="triangle"/>
          </a:ln>
        </p:spPr>
      </p:sp>
      <p:sp>
        <p:nvSpPr>
          <p:cNvPr id="26" name="Text 23"/>
          <p:cNvSpPr/>
          <p:nvPr/>
        </p:nvSpPr>
        <p:spPr>
          <a:xfrm>
            <a:off x="5372100" y="6053328"/>
            <a:ext cx="6629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Sync call</a:t>
            </a:r>
            <a:endParaRPr lang="en-US" sz="1000" dirty="0"/>
          </a:p>
        </p:txBody>
      </p:sp>
      <p:sp>
        <p:nvSpPr>
          <p:cNvPr id="27" name="Shape 24"/>
          <p:cNvSpPr/>
          <p:nvPr/>
        </p:nvSpPr>
        <p:spPr>
          <a:xfrm>
            <a:off x="6263640" y="6181344"/>
            <a:ext cx="320040" cy="0"/>
          </a:xfrm>
          <a:prstGeom prst="line">
            <a:avLst/>
          </a:prstGeom>
          <a:noFill/>
          <a:ln w="25400">
            <a:solidFill>
              <a:srgbClr val="E8A400"/>
            </a:solidFill>
            <a:prstDash val="dash"/>
            <a:tailEnd type="triangle"/>
          </a:ln>
        </p:spPr>
      </p:sp>
      <p:sp>
        <p:nvSpPr>
          <p:cNvPr id="28" name="Text 25"/>
          <p:cNvSpPr/>
          <p:nvPr/>
        </p:nvSpPr>
        <p:spPr>
          <a:xfrm>
            <a:off x="6629400" y="6053328"/>
            <a:ext cx="80010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Async event</a:t>
            </a:r>
            <a:endParaRPr lang="en-US" sz="1000" dirty="0"/>
          </a:p>
        </p:txBody>
      </p:sp>
      <p:sp>
        <p:nvSpPr>
          <p:cNvPr id="29" name="Shape 26"/>
          <p:cNvSpPr/>
          <p:nvPr/>
        </p:nvSpPr>
        <p:spPr>
          <a:xfrm>
            <a:off x="7658100" y="6181344"/>
            <a:ext cx="320040" cy="0"/>
          </a:xfrm>
          <a:prstGeom prst="line">
            <a:avLst/>
          </a:prstGeom>
          <a:noFill/>
          <a:ln w="25400">
            <a:solidFill>
              <a:srgbClr val="00897B"/>
            </a:solidFill>
            <a:prstDash val="solid"/>
            <a:tailEnd type="triangle"/>
          </a:ln>
        </p:spPr>
      </p:sp>
      <p:sp>
        <p:nvSpPr>
          <p:cNvPr id="30" name="Text 27"/>
          <p:cNvSpPr/>
          <p:nvPr/>
        </p:nvSpPr>
        <p:spPr>
          <a:xfrm>
            <a:off x="8023860" y="6053328"/>
            <a:ext cx="80010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Data access</a:t>
            </a:r>
            <a:endParaRPr lang="en-US" sz="1000" dirty="0"/>
          </a:p>
        </p:txBody>
      </p:sp>
      <p:sp>
        <p:nvSpPr>
          <p:cNvPr id="31" name="Shape 28"/>
          <p:cNvSpPr/>
          <p:nvPr/>
        </p:nvSpPr>
        <p:spPr>
          <a:xfrm>
            <a:off x="9052560" y="6181344"/>
            <a:ext cx="320040" cy="0"/>
          </a:xfrm>
          <a:prstGeom prst="line">
            <a:avLst/>
          </a:prstGeom>
          <a:noFill/>
          <a:ln w="25400">
            <a:solidFill>
              <a:srgbClr val="7F7F7F"/>
            </a:solidFill>
            <a:prstDash val="dash"/>
            <a:tailEnd type="triangle"/>
          </a:ln>
        </p:spPr>
      </p:sp>
      <p:sp>
        <p:nvSpPr>
          <p:cNvPr id="32" name="Text 29"/>
          <p:cNvSpPr/>
          <p:nvPr/>
        </p:nvSpPr>
        <p:spPr>
          <a:xfrm>
            <a:off x="9418320" y="6053328"/>
            <a:ext cx="93726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External call</a:t>
            </a:r>
            <a:endParaRPr lang="en-US" sz="1000" dirty="0"/>
          </a:p>
        </p:txBody>
      </p:sp>
      <p:sp>
        <p:nvSpPr>
          <p:cNvPr id="25" name="Slide Number Placeholder 0"/>
          <p:cNvSpPr>
            <a:spLocks noGrp="1"/>
          </p:cNvSpPr>
          <p:nvPr>
            <p:ph type="sldNum" sz="quarter" idx="4294967295"/>
          </p:nvPr>
        </p:nvSpPr>
        <p:spPr>
          <a:xfrm>
            <a:off x="11368735"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p:nvPr/>
        </p:nvSpPr>
        <p:spPr>
          <a:xfrm>
            <a:off x="411480" y="182880"/>
            <a:ext cx="11368735" cy="548640"/>
          </a:xfrm>
          <a:prstGeom prst="rect">
            <a:avLst/>
          </a:prstGeom>
          <a:noFill/>
          <a:ln/>
        </p:spPr>
        <p:txBody>
          <a:bodyPr wrap="square" lIns="0" tIns="0" rIns="0" bIns="0" rtlCol="0" anchor="ctr"/>
          <a:lstStyle/>
          <a:p>
            <a:pPr indent="0" marL="0">
              <a:buNone/>
            </a:pPr>
            <a:r>
              <a:rPr lang="en-US" sz="2800" b="1" dirty="0">
                <a:solidFill>
                  <a:srgbClr val="1F3A68"/>
                </a:solidFill>
                <a:latin typeface="Calibri" pitchFamily="34" charset="0"/>
                <a:ea typeface="Calibri" pitchFamily="34" charset="-122"/>
                <a:cs typeface="Calibri" pitchFamily="34" charset="-120"/>
              </a:rPr>
              <a:t>Saga: Book an appointment: Happy path</a:t>
            </a:r>
            <a:endParaRPr lang="en-US" sz="2800" dirty="0"/>
          </a:p>
        </p:txBody>
      </p:sp>
      <p:sp>
        <p:nvSpPr>
          <p:cNvPr id="3" name="Message"/>
          <p:cNvSpPr/>
          <p:nvPr/>
        </p:nvSpPr>
        <p:spPr>
          <a:xfrm>
            <a:off x="411480" y="731520"/>
            <a:ext cx="11368735" cy="320040"/>
          </a:xfrm>
          <a:prstGeom prst="rect">
            <a:avLst/>
          </a:prstGeom>
          <a:noFill/>
          <a:ln/>
        </p:spPr>
        <p:txBody>
          <a:bodyPr wrap="square" lIns="0" tIns="0" rIns="0" bIns="0" rtlCol="0" anchor="ctr"/>
          <a:lstStyle/>
          <a:p>
            <a:pPr indent="0" marL="0">
              <a:buNone/>
            </a:pPr>
            <a:r>
              <a:rPr lang="en-US" sz="1500" dirty="0">
                <a:solidFill>
                  <a:srgbClr val="5A6478"/>
                </a:solidFill>
                <a:latin typeface="Calibri" pitchFamily="34" charset="0"/>
                <a:ea typeface="Calibri" pitchFamily="34" charset="-122"/>
                <a:cs typeface="Calibri" pitchFamily="34" charset="-120"/>
              </a:rPr>
              <a:t>The appointment service orchestrates the booking as a saga of eleven steps</a:t>
            </a:r>
            <a:endParaRPr lang="en-US" sz="1500" dirty="0"/>
          </a:p>
        </p:txBody>
      </p:sp>
      <p:pic>
        <p:nvPicPr>
          <p:cNvPr id="4" name="Image 0" descr="examples/clinic-booking/design/deck/assets/08-saga-p1.png">    </p:cNvPr>
          <p:cNvPicPr>
            <a:picLocks noChangeAspect="1"/>
          </p:cNvPicPr>
          <p:nvPr/>
        </p:nvPicPr>
        <p:blipFill>
          <a:blip r:embed="rId1"/>
          <a:stretch>
            <a:fillRect/>
          </a:stretch>
        </p:blipFill>
        <p:spPr>
          <a:xfrm>
            <a:off x="716426" y="1188720"/>
            <a:ext cx="10758843" cy="4837176"/>
          </a:xfrm>
          <a:prstGeom prst="rect">
            <a:avLst/>
          </a:prstGeom>
        </p:spPr>
      </p:pic>
      <p:sp>
        <p:nvSpPr>
          <p:cNvPr id="5" name="Shape 2"/>
          <p:cNvSpPr/>
          <p:nvPr/>
        </p:nvSpPr>
        <p:spPr>
          <a:xfrm>
            <a:off x="411480" y="6108192"/>
            <a:ext cx="292608" cy="146304"/>
          </a:xfrm>
          <a:prstGeom prst="rect">
            <a:avLst/>
          </a:prstGeom>
          <a:solidFill>
            <a:srgbClr val="DAE8FC"/>
          </a:solidFill>
          <a:ln w="12700">
            <a:solidFill>
              <a:srgbClr val="6C8EBF"/>
            </a:solidFill>
            <a:prstDash val="solid"/>
          </a:ln>
        </p:spPr>
      </p:sp>
      <p:sp>
        <p:nvSpPr>
          <p:cNvPr id="6" name="Text 3"/>
          <p:cNvSpPr/>
          <p:nvPr/>
        </p:nvSpPr>
        <p:spPr>
          <a:xfrm>
            <a:off x="777240" y="6053328"/>
            <a:ext cx="10058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Core subdomain</a:t>
            </a:r>
            <a:endParaRPr lang="en-US" sz="1000" dirty="0"/>
          </a:p>
        </p:txBody>
      </p:sp>
      <p:sp>
        <p:nvSpPr>
          <p:cNvPr id="7" name="Shape 4"/>
          <p:cNvSpPr/>
          <p:nvPr/>
        </p:nvSpPr>
        <p:spPr>
          <a:xfrm>
            <a:off x="2011680" y="6108192"/>
            <a:ext cx="292608" cy="146304"/>
          </a:xfrm>
          <a:prstGeom prst="rect">
            <a:avLst/>
          </a:prstGeom>
          <a:solidFill>
            <a:srgbClr val="D5E8D4"/>
          </a:solidFill>
          <a:ln w="12700">
            <a:solidFill>
              <a:srgbClr val="82B366"/>
            </a:solidFill>
            <a:prstDash val="solid"/>
          </a:ln>
        </p:spPr>
      </p:sp>
      <p:sp>
        <p:nvSpPr>
          <p:cNvPr id="8" name="Text 5"/>
          <p:cNvSpPr/>
          <p:nvPr/>
        </p:nvSpPr>
        <p:spPr>
          <a:xfrm>
            <a:off x="2377440" y="6053328"/>
            <a:ext cx="141732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Supporting subdomain</a:t>
            </a:r>
            <a:endParaRPr lang="en-US" sz="1000" dirty="0"/>
          </a:p>
        </p:txBody>
      </p:sp>
      <p:sp>
        <p:nvSpPr>
          <p:cNvPr id="9" name="Shape 6"/>
          <p:cNvSpPr/>
          <p:nvPr/>
        </p:nvSpPr>
        <p:spPr>
          <a:xfrm>
            <a:off x="4023360" y="6108192"/>
            <a:ext cx="292608" cy="146304"/>
          </a:xfrm>
          <a:prstGeom prst="rect">
            <a:avLst/>
          </a:prstGeom>
          <a:solidFill>
            <a:srgbClr val="E1D5E7"/>
          </a:solidFill>
          <a:ln w="12700">
            <a:solidFill>
              <a:srgbClr val="9673A6"/>
            </a:solidFill>
            <a:prstDash val="solid"/>
          </a:ln>
        </p:spPr>
      </p:sp>
      <p:sp>
        <p:nvSpPr>
          <p:cNvPr id="10" name="Text 7"/>
          <p:cNvSpPr/>
          <p:nvPr/>
        </p:nvSpPr>
        <p:spPr>
          <a:xfrm>
            <a:off x="4389120" y="6053328"/>
            <a:ext cx="121158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Generic subdomain</a:t>
            </a:r>
            <a:endParaRPr lang="en-US" sz="1000" dirty="0"/>
          </a:p>
        </p:txBody>
      </p:sp>
      <p:sp>
        <p:nvSpPr>
          <p:cNvPr id="11" name="Shape 8"/>
          <p:cNvSpPr/>
          <p:nvPr/>
        </p:nvSpPr>
        <p:spPr>
          <a:xfrm>
            <a:off x="5829300" y="6108192"/>
            <a:ext cx="292608" cy="146304"/>
          </a:xfrm>
          <a:prstGeom prst="rect">
            <a:avLst/>
          </a:prstGeom>
          <a:solidFill>
            <a:srgbClr val="F5F5F5"/>
          </a:solidFill>
          <a:ln w="12700">
            <a:solidFill>
              <a:srgbClr val="666666"/>
            </a:solidFill>
            <a:prstDash val="dash"/>
          </a:ln>
        </p:spPr>
      </p:sp>
      <p:sp>
        <p:nvSpPr>
          <p:cNvPr id="12" name="Text 9"/>
          <p:cNvSpPr/>
          <p:nvPr/>
        </p:nvSpPr>
        <p:spPr>
          <a:xfrm>
            <a:off x="6195060" y="6053328"/>
            <a:ext cx="107442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External system</a:t>
            </a:r>
            <a:endParaRPr lang="en-US" sz="1000" dirty="0"/>
          </a:p>
        </p:txBody>
      </p:sp>
      <p:sp>
        <p:nvSpPr>
          <p:cNvPr id="13" name="Shape 10"/>
          <p:cNvSpPr/>
          <p:nvPr/>
        </p:nvSpPr>
        <p:spPr>
          <a:xfrm>
            <a:off x="7498080" y="6181344"/>
            <a:ext cx="320040" cy="0"/>
          </a:xfrm>
          <a:prstGeom prst="line">
            <a:avLst/>
          </a:prstGeom>
          <a:noFill/>
          <a:ln w="25400">
            <a:solidFill>
              <a:srgbClr val="1A73E8"/>
            </a:solidFill>
            <a:prstDash val="solid"/>
            <a:tailEnd type="triangle"/>
          </a:ln>
        </p:spPr>
      </p:sp>
      <p:sp>
        <p:nvSpPr>
          <p:cNvPr id="14" name="Text 11"/>
          <p:cNvSpPr/>
          <p:nvPr/>
        </p:nvSpPr>
        <p:spPr>
          <a:xfrm>
            <a:off x="7863840" y="6053328"/>
            <a:ext cx="6629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Sync call</a:t>
            </a:r>
            <a:endParaRPr lang="en-US" sz="1000" dirty="0"/>
          </a:p>
        </p:txBody>
      </p:sp>
      <p:sp>
        <p:nvSpPr>
          <p:cNvPr id="15" name="Shape 12"/>
          <p:cNvSpPr/>
          <p:nvPr/>
        </p:nvSpPr>
        <p:spPr>
          <a:xfrm>
            <a:off x="8755380" y="6181344"/>
            <a:ext cx="320040" cy="0"/>
          </a:xfrm>
          <a:prstGeom prst="line">
            <a:avLst/>
          </a:prstGeom>
          <a:noFill/>
          <a:ln w="25400">
            <a:solidFill>
              <a:srgbClr val="E8A400"/>
            </a:solidFill>
            <a:prstDash val="dash"/>
            <a:tailEnd type="triangle"/>
          </a:ln>
        </p:spPr>
      </p:sp>
      <p:sp>
        <p:nvSpPr>
          <p:cNvPr id="16" name="Text 13"/>
          <p:cNvSpPr/>
          <p:nvPr/>
        </p:nvSpPr>
        <p:spPr>
          <a:xfrm>
            <a:off x="9121140" y="6053328"/>
            <a:ext cx="80010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Async event</a:t>
            </a:r>
            <a:endParaRPr lang="en-US" sz="1000" dirty="0"/>
          </a:p>
        </p:txBody>
      </p:sp>
      <p:sp>
        <p:nvSpPr>
          <p:cNvPr id="25" name="Slide Number Placeholder 0"/>
          <p:cNvSpPr>
            <a:spLocks noGrp="1"/>
          </p:cNvSpPr>
          <p:nvPr>
            <p:ph type="sldNum" sz="quarter" idx="4294967295"/>
          </p:nvPr>
        </p:nvSpPr>
        <p:spPr>
          <a:xfrm>
            <a:off x="11368735"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p:nvPr/>
        </p:nvSpPr>
        <p:spPr>
          <a:xfrm>
            <a:off x="411480" y="182880"/>
            <a:ext cx="11368735" cy="548640"/>
          </a:xfrm>
          <a:prstGeom prst="rect">
            <a:avLst/>
          </a:prstGeom>
          <a:noFill/>
          <a:ln/>
        </p:spPr>
        <p:txBody>
          <a:bodyPr wrap="square" lIns="0" tIns="0" rIns="0" bIns="0" rtlCol="0" anchor="ctr"/>
          <a:lstStyle/>
          <a:p>
            <a:pPr indent="0" marL="0">
              <a:buNone/>
            </a:pPr>
            <a:r>
              <a:rPr lang="en-US" sz="2800" b="1" dirty="0">
                <a:solidFill>
                  <a:srgbClr val="1F3A68"/>
                </a:solidFill>
                <a:latin typeface="Calibri" pitchFamily="34" charset="0"/>
                <a:ea typeface="Calibri" pitchFamily="34" charset="-122"/>
                <a:cs typeface="Calibri" pitchFamily="34" charset="-120"/>
              </a:rPr>
              <a:t>Saga: Book an appointment: Slot already taken</a:t>
            </a:r>
            <a:endParaRPr lang="en-US" sz="2800" dirty="0"/>
          </a:p>
        </p:txBody>
      </p:sp>
      <p:sp>
        <p:nvSpPr>
          <p:cNvPr id="3" name="Message"/>
          <p:cNvSpPr/>
          <p:nvPr/>
        </p:nvSpPr>
        <p:spPr>
          <a:xfrm>
            <a:off x="411480" y="731520"/>
            <a:ext cx="11368735" cy="320040"/>
          </a:xfrm>
          <a:prstGeom prst="rect">
            <a:avLst/>
          </a:prstGeom>
          <a:noFill/>
          <a:ln/>
        </p:spPr>
        <p:txBody>
          <a:bodyPr wrap="square" lIns="0" tIns="0" rIns="0" bIns="0" rtlCol="0" anchor="ctr"/>
          <a:lstStyle/>
          <a:p>
            <a:pPr indent="0" marL="0">
              <a:buNone/>
            </a:pPr>
            <a:r>
              <a:rPr lang="en-US" sz="1500" dirty="0">
                <a:solidFill>
                  <a:srgbClr val="5A6478"/>
                </a:solidFill>
                <a:latin typeface="Calibri" pitchFamily="34" charset="0"/>
                <a:ea typeface="Calibri" pitchFamily="34" charset="-122"/>
                <a:cs typeface="Calibri" pitchFamily="34" charset="-120"/>
              </a:rPr>
              <a:t>When the slot is gone, the booking is cancelled and the next free slots are offered</a:t>
            </a:r>
            <a:endParaRPr lang="en-US" sz="1500" dirty="0"/>
          </a:p>
        </p:txBody>
      </p:sp>
      <p:pic>
        <p:nvPicPr>
          <p:cNvPr id="4" name="Image 0" descr="examples/clinic-booking/design/deck/assets/08-saga-p2.png">    </p:cNvPr>
          <p:cNvPicPr>
            <a:picLocks noChangeAspect="1"/>
          </p:cNvPicPr>
          <p:nvPr/>
        </p:nvPicPr>
        <p:blipFill>
          <a:blip r:embed="rId1"/>
          <a:stretch>
            <a:fillRect/>
          </a:stretch>
        </p:blipFill>
        <p:spPr>
          <a:xfrm>
            <a:off x="411480" y="2506814"/>
            <a:ext cx="11368735" cy="2200987"/>
          </a:xfrm>
          <a:prstGeom prst="rect">
            <a:avLst/>
          </a:prstGeom>
        </p:spPr>
      </p:pic>
      <p:sp>
        <p:nvSpPr>
          <p:cNvPr id="5" name="Shape 2"/>
          <p:cNvSpPr/>
          <p:nvPr/>
        </p:nvSpPr>
        <p:spPr>
          <a:xfrm>
            <a:off x="411480" y="6108192"/>
            <a:ext cx="292608" cy="146304"/>
          </a:xfrm>
          <a:prstGeom prst="rect">
            <a:avLst/>
          </a:prstGeom>
          <a:solidFill>
            <a:srgbClr val="DAE8FC"/>
          </a:solidFill>
          <a:ln w="12700">
            <a:solidFill>
              <a:srgbClr val="6C8EBF"/>
            </a:solidFill>
            <a:prstDash val="solid"/>
          </a:ln>
        </p:spPr>
      </p:sp>
      <p:sp>
        <p:nvSpPr>
          <p:cNvPr id="6" name="Text 3"/>
          <p:cNvSpPr/>
          <p:nvPr/>
        </p:nvSpPr>
        <p:spPr>
          <a:xfrm>
            <a:off x="777240" y="6053328"/>
            <a:ext cx="10058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Core subdomain</a:t>
            </a:r>
            <a:endParaRPr lang="en-US" sz="1000" dirty="0"/>
          </a:p>
        </p:txBody>
      </p:sp>
      <p:sp>
        <p:nvSpPr>
          <p:cNvPr id="7" name="Shape 4"/>
          <p:cNvSpPr/>
          <p:nvPr/>
        </p:nvSpPr>
        <p:spPr>
          <a:xfrm>
            <a:off x="2011680" y="6108192"/>
            <a:ext cx="292608" cy="146304"/>
          </a:xfrm>
          <a:prstGeom prst="rect">
            <a:avLst/>
          </a:prstGeom>
          <a:solidFill>
            <a:srgbClr val="D5E8D4"/>
          </a:solidFill>
          <a:ln w="12700">
            <a:solidFill>
              <a:srgbClr val="82B366"/>
            </a:solidFill>
            <a:prstDash val="solid"/>
          </a:ln>
        </p:spPr>
      </p:sp>
      <p:sp>
        <p:nvSpPr>
          <p:cNvPr id="8" name="Text 5"/>
          <p:cNvSpPr/>
          <p:nvPr/>
        </p:nvSpPr>
        <p:spPr>
          <a:xfrm>
            <a:off x="2377440" y="6053328"/>
            <a:ext cx="141732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Supporting subdomain</a:t>
            </a:r>
            <a:endParaRPr lang="en-US" sz="1000" dirty="0"/>
          </a:p>
        </p:txBody>
      </p:sp>
      <p:sp>
        <p:nvSpPr>
          <p:cNvPr id="9" name="Shape 6"/>
          <p:cNvSpPr/>
          <p:nvPr/>
        </p:nvSpPr>
        <p:spPr>
          <a:xfrm>
            <a:off x="4023360" y="6108192"/>
            <a:ext cx="292608" cy="146304"/>
          </a:xfrm>
          <a:prstGeom prst="rect">
            <a:avLst/>
          </a:prstGeom>
          <a:solidFill>
            <a:srgbClr val="E1D5E7"/>
          </a:solidFill>
          <a:ln w="12700">
            <a:solidFill>
              <a:srgbClr val="9673A6"/>
            </a:solidFill>
            <a:prstDash val="solid"/>
          </a:ln>
        </p:spPr>
      </p:sp>
      <p:sp>
        <p:nvSpPr>
          <p:cNvPr id="10" name="Text 7"/>
          <p:cNvSpPr/>
          <p:nvPr/>
        </p:nvSpPr>
        <p:spPr>
          <a:xfrm>
            <a:off x="4389120" y="6053328"/>
            <a:ext cx="121158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Generic subdomain</a:t>
            </a:r>
            <a:endParaRPr lang="en-US" sz="1000" dirty="0"/>
          </a:p>
        </p:txBody>
      </p:sp>
      <p:sp>
        <p:nvSpPr>
          <p:cNvPr id="11" name="Shape 8"/>
          <p:cNvSpPr/>
          <p:nvPr/>
        </p:nvSpPr>
        <p:spPr>
          <a:xfrm>
            <a:off x="5829300" y="6108192"/>
            <a:ext cx="292608" cy="146304"/>
          </a:xfrm>
          <a:prstGeom prst="rect">
            <a:avLst/>
          </a:prstGeom>
          <a:solidFill>
            <a:srgbClr val="F5F5F5"/>
          </a:solidFill>
          <a:ln w="12700">
            <a:solidFill>
              <a:srgbClr val="666666"/>
            </a:solidFill>
            <a:prstDash val="dash"/>
          </a:ln>
        </p:spPr>
      </p:sp>
      <p:sp>
        <p:nvSpPr>
          <p:cNvPr id="12" name="Text 9"/>
          <p:cNvSpPr/>
          <p:nvPr/>
        </p:nvSpPr>
        <p:spPr>
          <a:xfrm>
            <a:off x="6195060" y="6053328"/>
            <a:ext cx="107442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External system</a:t>
            </a:r>
            <a:endParaRPr lang="en-US" sz="1000" dirty="0"/>
          </a:p>
        </p:txBody>
      </p:sp>
      <p:sp>
        <p:nvSpPr>
          <p:cNvPr id="13" name="Shape 10"/>
          <p:cNvSpPr/>
          <p:nvPr/>
        </p:nvSpPr>
        <p:spPr>
          <a:xfrm>
            <a:off x="7498080" y="6181344"/>
            <a:ext cx="320040" cy="0"/>
          </a:xfrm>
          <a:prstGeom prst="line">
            <a:avLst/>
          </a:prstGeom>
          <a:noFill/>
          <a:ln w="25400">
            <a:solidFill>
              <a:srgbClr val="E8A400"/>
            </a:solidFill>
            <a:prstDash val="dash"/>
            <a:tailEnd type="triangle"/>
          </a:ln>
        </p:spPr>
      </p:sp>
      <p:sp>
        <p:nvSpPr>
          <p:cNvPr id="14" name="Text 11"/>
          <p:cNvSpPr/>
          <p:nvPr/>
        </p:nvSpPr>
        <p:spPr>
          <a:xfrm>
            <a:off x="7863840" y="6053328"/>
            <a:ext cx="80010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Async event</a:t>
            </a:r>
            <a:endParaRPr lang="en-US" sz="1000" dirty="0"/>
          </a:p>
        </p:txBody>
      </p:sp>
      <p:sp>
        <p:nvSpPr>
          <p:cNvPr id="15" name="Shape 12"/>
          <p:cNvSpPr/>
          <p:nvPr/>
        </p:nvSpPr>
        <p:spPr>
          <a:xfrm>
            <a:off x="8892540" y="6181344"/>
            <a:ext cx="320040" cy="0"/>
          </a:xfrm>
          <a:prstGeom prst="line">
            <a:avLst/>
          </a:prstGeom>
          <a:noFill/>
          <a:ln w="25400">
            <a:solidFill>
              <a:srgbClr val="D32F2F"/>
            </a:solidFill>
            <a:prstDash val="dash"/>
            <a:tailEnd type="triangle"/>
          </a:ln>
        </p:spPr>
      </p:sp>
      <p:sp>
        <p:nvSpPr>
          <p:cNvPr id="16" name="Text 13"/>
          <p:cNvSpPr/>
          <p:nvPr/>
        </p:nvSpPr>
        <p:spPr>
          <a:xfrm>
            <a:off x="9258300" y="6053328"/>
            <a:ext cx="86868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Compensation</a:t>
            </a:r>
            <a:endParaRPr lang="en-US" sz="1000" dirty="0"/>
          </a:p>
        </p:txBody>
      </p:sp>
      <p:sp>
        <p:nvSpPr>
          <p:cNvPr id="25" name="Slide Number Placeholder 0"/>
          <p:cNvSpPr>
            <a:spLocks noGrp="1"/>
          </p:cNvSpPr>
          <p:nvPr>
            <p:ph type="sldNum" sz="quarter" idx="4294967295"/>
          </p:nvPr>
        </p:nvSpPr>
        <p:spPr>
          <a:xfrm>
            <a:off x="11368735"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p:nvPr/>
        </p:nvSpPr>
        <p:spPr>
          <a:xfrm>
            <a:off x="411480" y="182880"/>
            <a:ext cx="11368735" cy="548640"/>
          </a:xfrm>
          <a:prstGeom prst="rect">
            <a:avLst/>
          </a:prstGeom>
          <a:noFill/>
          <a:ln/>
        </p:spPr>
        <p:txBody>
          <a:bodyPr wrap="square" lIns="0" tIns="0" rIns="0" bIns="0" rtlCol="0" anchor="ctr"/>
          <a:lstStyle/>
          <a:p>
            <a:pPr indent="0" marL="0">
              <a:buNone/>
            </a:pPr>
            <a:r>
              <a:rPr lang="en-US" sz="2800" b="1" dirty="0">
                <a:solidFill>
                  <a:srgbClr val="1F3A68"/>
                </a:solidFill>
                <a:latin typeface="Calibri" pitchFamily="34" charset="0"/>
                <a:ea typeface="Calibri" pitchFamily="34" charset="-122"/>
                <a:cs typeface="Calibri" pitchFamily="34" charset="-120"/>
              </a:rPr>
              <a:t>Saga: Book an appointment: Deposit payment times out</a:t>
            </a:r>
            <a:endParaRPr lang="en-US" sz="2800" dirty="0"/>
          </a:p>
        </p:txBody>
      </p:sp>
      <p:sp>
        <p:nvSpPr>
          <p:cNvPr id="3" name="Message"/>
          <p:cNvSpPr/>
          <p:nvPr/>
        </p:nvSpPr>
        <p:spPr>
          <a:xfrm>
            <a:off x="411480" y="731520"/>
            <a:ext cx="11368735" cy="320040"/>
          </a:xfrm>
          <a:prstGeom prst="rect">
            <a:avLst/>
          </a:prstGeom>
          <a:noFill/>
          <a:ln/>
        </p:spPr>
        <p:txBody>
          <a:bodyPr wrap="square" lIns="0" tIns="0" rIns="0" bIns="0" rtlCol="0" anchor="ctr"/>
          <a:lstStyle/>
          <a:p>
            <a:pPr indent="0" marL="0">
              <a:buNone/>
            </a:pPr>
            <a:r>
              <a:rPr lang="en-US" sz="1500" dirty="0">
                <a:solidFill>
                  <a:srgbClr val="5A6478"/>
                </a:solidFill>
                <a:latin typeface="Calibri" pitchFamily="34" charset="0"/>
                <a:ea typeface="Calibri" pitchFamily="34" charset="-122"/>
                <a:cs typeface="Calibri" pitchFamily="34" charset="-120"/>
              </a:rPr>
              <a:t>A payment timeout never leaves a slot held or money taken without an appointment</a:t>
            </a:r>
            <a:endParaRPr lang="en-US" sz="1500" dirty="0"/>
          </a:p>
        </p:txBody>
      </p:sp>
      <p:pic>
        <p:nvPicPr>
          <p:cNvPr id="4" name="Image 0" descr="examples/clinic-booking/design/deck/assets/08-saga-p3.png">    </p:cNvPr>
          <p:cNvPicPr>
            <a:picLocks noChangeAspect="1"/>
          </p:cNvPicPr>
          <p:nvPr/>
        </p:nvPicPr>
        <p:blipFill>
          <a:blip r:embed="rId1"/>
          <a:stretch>
            <a:fillRect/>
          </a:stretch>
        </p:blipFill>
        <p:spPr>
          <a:xfrm>
            <a:off x="411480" y="2324915"/>
            <a:ext cx="11368735" cy="2564787"/>
          </a:xfrm>
          <a:prstGeom prst="rect">
            <a:avLst/>
          </a:prstGeom>
        </p:spPr>
      </p:pic>
      <p:sp>
        <p:nvSpPr>
          <p:cNvPr id="5" name="Shape 2"/>
          <p:cNvSpPr/>
          <p:nvPr/>
        </p:nvSpPr>
        <p:spPr>
          <a:xfrm>
            <a:off x="411480" y="6108192"/>
            <a:ext cx="292608" cy="146304"/>
          </a:xfrm>
          <a:prstGeom prst="rect">
            <a:avLst/>
          </a:prstGeom>
          <a:solidFill>
            <a:srgbClr val="DAE8FC"/>
          </a:solidFill>
          <a:ln w="12700">
            <a:solidFill>
              <a:srgbClr val="6C8EBF"/>
            </a:solidFill>
            <a:prstDash val="solid"/>
          </a:ln>
        </p:spPr>
      </p:sp>
      <p:sp>
        <p:nvSpPr>
          <p:cNvPr id="6" name="Text 3"/>
          <p:cNvSpPr/>
          <p:nvPr/>
        </p:nvSpPr>
        <p:spPr>
          <a:xfrm>
            <a:off x="777240" y="6053328"/>
            <a:ext cx="10058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Core subdomain</a:t>
            </a:r>
            <a:endParaRPr lang="en-US" sz="1000" dirty="0"/>
          </a:p>
        </p:txBody>
      </p:sp>
      <p:sp>
        <p:nvSpPr>
          <p:cNvPr id="7" name="Shape 4"/>
          <p:cNvSpPr/>
          <p:nvPr/>
        </p:nvSpPr>
        <p:spPr>
          <a:xfrm>
            <a:off x="2011680" y="6108192"/>
            <a:ext cx="292608" cy="146304"/>
          </a:xfrm>
          <a:prstGeom prst="rect">
            <a:avLst/>
          </a:prstGeom>
          <a:solidFill>
            <a:srgbClr val="D5E8D4"/>
          </a:solidFill>
          <a:ln w="12700">
            <a:solidFill>
              <a:srgbClr val="82B366"/>
            </a:solidFill>
            <a:prstDash val="solid"/>
          </a:ln>
        </p:spPr>
      </p:sp>
      <p:sp>
        <p:nvSpPr>
          <p:cNvPr id="8" name="Text 5"/>
          <p:cNvSpPr/>
          <p:nvPr/>
        </p:nvSpPr>
        <p:spPr>
          <a:xfrm>
            <a:off x="2377440" y="6053328"/>
            <a:ext cx="141732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Supporting subdomain</a:t>
            </a:r>
            <a:endParaRPr lang="en-US" sz="1000" dirty="0"/>
          </a:p>
        </p:txBody>
      </p:sp>
      <p:sp>
        <p:nvSpPr>
          <p:cNvPr id="9" name="Shape 6"/>
          <p:cNvSpPr/>
          <p:nvPr/>
        </p:nvSpPr>
        <p:spPr>
          <a:xfrm>
            <a:off x="4023360" y="6108192"/>
            <a:ext cx="292608" cy="146304"/>
          </a:xfrm>
          <a:prstGeom prst="rect">
            <a:avLst/>
          </a:prstGeom>
          <a:solidFill>
            <a:srgbClr val="E1D5E7"/>
          </a:solidFill>
          <a:ln w="12700">
            <a:solidFill>
              <a:srgbClr val="9673A6"/>
            </a:solidFill>
            <a:prstDash val="solid"/>
          </a:ln>
        </p:spPr>
      </p:sp>
      <p:sp>
        <p:nvSpPr>
          <p:cNvPr id="10" name="Text 7"/>
          <p:cNvSpPr/>
          <p:nvPr/>
        </p:nvSpPr>
        <p:spPr>
          <a:xfrm>
            <a:off x="4389120" y="6053328"/>
            <a:ext cx="121158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Generic subdomain</a:t>
            </a:r>
            <a:endParaRPr lang="en-US" sz="1000" dirty="0"/>
          </a:p>
        </p:txBody>
      </p:sp>
      <p:sp>
        <p:nvSpPr>
          <p:cNvPr id="11" name="Shape 8"/>
          <p:cNvSpPr/>
          <p:nvPr/>
        </p:nvSpPr>
        <p:spPr>
          <a:xfrm>
            <a:off x="5829300" y="6108192"/>
            <a:ext cx="292608" cy="146304"/>
          </a:xfrm>
          <a:prstGeom prst="rect">
            <a:avLst/>
          </a:prstGeom>
          <a:solidFill>
            <a:srgbClr val="F5F5F5"/>
          </a:solidFill>
          <a:ln w="12700">
            <a:solidFill>
              <a:srgbClr val="666666"/>
            </a:solidFill>
            <a:prstDash val="dash"/>
          </a:ln>
        </p:spPr>
      </p:sp>
      <p:sp>
        <p:nvSpPr>
          <p:cNvPr id="12" name="Text 9"/>
          <p:cNvSpPr/>
          <p:nvPr/>
        </p:nvSpPr>
        <p:spPr>
          <a:xfrm>
            <a:off x="6195060" y="6053328"/>
            <a:ext cx="107442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External system</a:t>
            </a:r>
            <a:endParaRPr lang="en-US" sz="1000" dirty="0"/>
          </a:p>
        </p:txBody>
      </p:sp>
      <p:sp>
        <p:nvSpPr>
          <p:cNvPr id="13" name="Shape 10"/>
          <p:cNvSpPr/>
          <p:nvPr/>
        </p:nvSpPr>
        <p:spPr>
          <a:xfrm>
            <a:off x="7498080" y="6181344"/>
            <a:ext cx="320040" cy="0"/>
          </a:xfrm>
          <a:prstGeom prst="line">
            <a:avLst/>
          </a:prstGeom>
          <a:noFill/>
          <a:ln w="25400">
            <a:solidFill>
              <a:srgbClr val="1A73E8"/>
            </a:solidFill>
            <a:prstDash val="solid"/>
            <a:tailEnd type="triangle"/>
          </a:ln>
        </p:spPr>
      </p:sp>
      <p:sp>
        <p:nvSpPr>
          <p:cNvPr id="14" name="Text 11"/>
          <p:cNvSpPr/>
          <p:nvPr/>
        </p:nvSpPr>
        <p:spPr>
          <a:xfrm>
            <a:off x="7863840" y="6053328"/>
            <a:ext cx="6629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Sync call</a:t>
            </a:r>
            <a:endParaRPr lang="en-US" sz="1000" dirty="0"/>
          </a:p>
        </p:txBody>
      </p:sp>
      <p:sp>
        <p:nvSpPr>
          <p:cNvPr id="15" name="Shape 12"/>
          <p:cNvSpPr/>
          <p:nvPr/>
        </p:nvSpPr>
        <p:spPr>
          <a:xfrm>
            <a:off x="8755380" y="6181344"/>
            <a:ext cx="320040" cy="0"/>
          </a:xfrm>
          <a:prstGeom prst="line">
            <a:avLst/>
          </a:prstGeom>
          <a:noFill/>
          <a:ln w="25400">
            <a:solidFill>
              <a:srgbClr val="D32F2F"/>
            </a:solidFill>
            <a:prstDash val="dash"/>
            <a:tailEnd type="triangle"/>
          </a:ln>
        </p:spPr>
      </p:sp>
      <p:sp>
        <p:nvSpPr>
          <p:cNvPr id="16" name="Text 13"/>
          <p:cNvSpPr/>
          <p:nvPr/>
        </p:nvSpPr>
        <p:spPr>
          <a:xfrm>
            <a:off x="9121140" y="6053328"/>
            <a:ext cx="86868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Compensation</a:t>
            </a:r>
            <a:endParaRPr lang="en-US" sz="1000" dirty="0"/>
          </a:p>
        </p:txBody>
      </p:sp>
      <p:sp>
        <p:nvSpPr>
          <p:cNvPr id="25" name="Slide Number Placeholder 0"/>
          <p:cNvSpPr>
            <a:spLocks noGrp="1"/>
          </p:cNvSpPr>
          <p:nvPr>
            <p:ph type="sldNum" sz="quarter" idx="4294967295"/>
          </p:nvPr>
        </p:nvSpPr>
        <p:spPr>
          <a:xfrm>
            <a:off x="11368735"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p:nvPr/>
        </p:nvSpPr>
        <p:spPr>
          <a:xfrm>
            <a:off x="411480" y="182880"/>
            <a:ext cx="11368735" cy="548640"/>
          </a:xfrm>
          <a:prstGeom prst="rect">
            <a:avLst/>
          </a:prstGeom>
          <a:noFill/>
          <a:ln/>
        </p:spPr>
        <p:txBody>
          <a:bodyPr wrap="square" lIns="0" tIns="0" rIns="0" bIns="0" rtlCol="0" anchor="ctr"/>
          <a:lstStyle/>
          <a:p>
            <a:pPr indent="0" marL="0">
              <a:buNone/>
            </a:pPr>
            <a:r>
              <a:rPr lang="en-US" sz="2800" b="1" dirty="0">
                <a:solidFill>
                  <a:srgbClr val="1F3A68"/>
                </a:solidFill>
                <a:latin typeface="Calibri" pitchFamily="34" charset="0"/>
                <a:ea typeface="Calibri" pitchFamily="34" charset="-122"/>
                <a:cs typeface="Calibri" pitchFamily="34" charset="-120"/>
              </a:rPr>
              <a:t>Security pattern</a:t>
            </a:r>
            <a:endParaRPr lang="en-US" sz="2800" dirty="0"/>
          </a:p>
        </p:txBody>
      </p:sp>
      <p:sp>
        <p:nvSpPr>
          <p:cNvPr id="3" name="Message"/>
          <p:cNvSpPr/>
          <p:nvPr/>
        </p:nvSpPr>
        <p:spPr>
          <a:xfrm>
            <a:off x="411480" y="731520"/>
            <a:ext cx="11368735" cy="320040"/>
          </a:xfrm>
          <a:prstGeom prst="rect">
            <a:avLst/>
          </a:prstGeom>
          <a:noFill/>
          <a:ln/>
        </p:spPr>
        <p:txBody>
          <a:bodyPr wrap="square" lIns="0" tIns="0" rIns="0" bIns="0" rtlCol="0" anchor="ctr"/>
          <a:lstStyle/>
          <a:p>
            <a:pPr indent="0" marL="0">
              <a:buNone/>
            </a:pPr>
            <a:r>
              <a:rPr lang="en-US" sz="1500" dirty="0">
                <a:solidFill>
                  <a:srgbClr val="5A6478"/>
                </a:solidFill>
                <a:latin typeface="Calibri" pitchFamily="34" charset="0"/>
                <a:ea typeface="Calibri" pitchFamily="34" charset="-122"/>
                <a:cs typeface="Calibri" pitchFamily="34" charset="-120"/>
              </a:rPr>
              <a:t>Zero trust: tokens from the identity provider, checked at the gateway and again in every service</a:t>
            </a:r>
            <a:endParaRPr lang="en-US" sz="1500" dirty="0"/>
          </a:p>
        </p:txBody>
      </p:sp>
      <p:pic>
        <p:nvPicPr>
          <p:cNvPr id="4" name="Image 0" descr="examples/clinic-booking/design/deck/assets/09-patterns-p1.png">    </p:cNvPr>
          <p:cNvPicPr>
            <a:picLocks noChangeAspect="1"/>
          </p:cNvPicPr>
          <p:nvPr/>
        </p:nvPicPr>
        <p:blipFill>
          <a:blip r:embed="rId1"/>
          <a:stretch>
            <a:fillRect/>
          </a:stretch>
        </p:blipFill>
        <p:spPr>
          <a:xfrm>
            <a:off x="411480" y="1321921"/>
            <a:ext cx="11368735" cy="4570775"/>
          </a:xfrm>
          <a:prstGeom prst="rect">
            <a:avLst/>
          </a:prstGeom>
        </p:spPr>
      </p:pic>
      <p:sp>
        <p:nvSpPr>
          <p:cNvPr id="5" name="Shape 2"/>
          <p:cNvSpPr/>
          <p:nvPr/>
        </p:nvSpPr>
        <p:spPr>
          <a:xfrm>
            <a:off x="411480" y="6108192"/>
            <a:ext cx="292608" cy="146304"/>
          </a:xfrm>
          <a:prstGeom prst="rect">
            <a:avLst/>
          </a:prstGeom>
          <a:solidFill>
            <a:srgbClr val="F5F5F5"/>
          </a:solidFill>
          <a:ln w="12700">
            <a:solidFill>
              <a:srgbClr val="666666"/>
            </a:solidFill>
            <a:prstDash val="solid"/>
          </a:ln>
        </p:spPr>
      </p:sp>
      <p:sp>
        <p:nvSpPr>
          <p:cNvPr id="6" name="Text 3"/>
          <p:cNvSpPr/>
          <p:nvPr/>
        </p:nvSpPr>
        <p:spPr>
          <a:xfrm>
            <a:off x="777240" y="6053328"/>
            <a:ext cx="45720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Client</a:t>
            </a:r>
            <a:endParaRPr lang="en-US" sz="1000" dirty="0"/>
          </a:p>
        </p:txBody>
      </p:sp>
      <p:sp>
        <p:nvSpPr>
          <p:cNvPr id="7" name="Shape 4"/>
          <p:cNvSpPr/>
          <p:nvPr/>
        </p:nvSpPr>
        <p:spPr>
          <a:xfrm>
            <a:off x="1463040" y="6108192"/>
            <a:ext cx="292608" cy="146304"/>
          </a:xfrm>
          <a:prstGeom prst="rect">
            <a:avLst/>
          </a:prstGeom>
          <a:solidFill>
            <a:srgbClr val="F8CECC"/>
          </a:solidFill>
          <a:ln w="12700">
            <a:solidFill>
              <a:srgbClr val="B85450"/>
            </a:solidFill>
            <a:prstDash val="solid"/>
          </a:ln>
        </p:spPr>
      </p:sp>
      <p:sp>
        <p:nvSpPr>
          <p:cNvPr id="8" name="Text 5"/>
          <p:cNvSpPr/>
          <p:nvPr/>
        </p:nvSpPr>
        <p:spPr>
          <a:xfrm>
            <a:off x="1828800" y="6053328"/>
            <a:ext cx="121158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Identity provider</a:t>
            </a:r>
            <a:endParaRPr lang="en-US" sz="1000" dirty="0"/>
          </a:p>
        </p:txBody>
      </p:sp>
      <p:sp>
        <p:nvSpPr>
          <p:cNvPr id="9" name="Shape 6"/>
          <p:cNvSpPr/>
          <p:nvPr/>
        </p:nvSpPr>
        <p:spPr>
          <a:xfrm>
            <a:off x="3268980" y="6108192"/>
            <a:ext cx="292608" cy="146304"/>
          </a:xfrm>
          <a:prstGeom prst="rect">
            <a:avLst/>
          </a:prstGeom>
          <a:solidFill>
            <a:srgbClr val="FFE6CC"/>
          </a:solidFill>
          <a:ln w="12700">
            <a:solidFill>
              <a:srgbClr val="D79B00"/>
            </a:solidFill>
            <a:prstDash val="solid"/>
          </a:ln>
        </p:spPr>
      </p:sp>
      <p:sp>
        <p:nvSpPr>
          <p:cNvPr id="10" name="Text 7"/>
          <p:cNvSpPr/>
          <p:nvPr/>
        </p:nvSpPr>
        <p:spPr>
          <a:xfrm>
            <a:off x="3634740" y="6053328"/>
            <a:ext cx="80010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API gateway</a:t>
            </a:r>
            <a:endParaRPr lang="en-US" sz="1000" dirty="0"/>
          </a:p>
        </p:txBody>
      </p:sp>
      <p:sp>
        <p:nvSpPr>
          <p:cNvPr id="11" name="Shape 8"/>
          <p:cNvSpPr/>
          <p:nvPr/>
        </p:nvSpPr>
        <p:spPr>
          <a:xfrm>
            <a:off x="4663440" y="6108192"/>
            <a:ext cx="292608" cy="146304"/>
          </a:xfrm>
          <a:prstGeom prst="rect">
            <a:avLst/>
          </a:prstGeom>
          <a:solidFill>
            <a:srgbClr val="DAE8FC"/>
          </a:solidFill>
          <a:ln w="12700">
            <a:solidFill>
              <a:srgbClr val="6C8EBF"/>
            </a:solidFill>
            <a:prstDash val="solid"/>
          </a:ln>
        </p:spPr>
      </p:sp>
      <p:sp>
        <p:nvSpPr>
          <p:cNvPr id="12" name="Text 9"/>
          <p:cNvSpPr/>
          <p:nvPr/>
        </p:nvSpPr>
        <p:spPr>
          <a:xfrm>
            <a:off x="5029200" y="6053328"/>
            <a:ext cx="10058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Core subdomain</a:t>
            </a:r>
            <a:endParaRPr lang="en-US" sz="1000" dirty="0"/>
          </a:p>
        </p:txBody>
      </p:sp>
      <p:sp>
        <p:nvSpPr>
          <p:cNvPr id="13" name="Shape 10"/>
          <p:cNvSpPr/>
          <p:nvPr/>
        </p:nvSpPr>
        <p:spPr>
          <a:xfrm>
            <a:off x="6263640" y="6181344"/>
            <a:ext cx="320040" cy="0"/>
          </a:xfrm>
          <a:prstGeom prst="line">
            <a:avLst/>
          </a:prstGeom>
          <a:noFill/>
          <a:ln w="25400">
            <a:solidFill>
              <a:srgbClr val="7B1FA2"/>
            </a:solidFill>
            <a:prstDash val="solid"/>
            <a:tailEnd type="triangle"/>
          </a:ln>
        </p:spPr>
      </p:sp>
      <p:sp>
        <p:nvSpPr>
          <p:cNvPr id="14" name="Text 11"/>
          <p:cNvSpPr/>
          <p:nvPr/>
        </p:nvSpPr>
        <p:spPr>
          <a:xfrm>
            <a:off x="6629400" y="6053328"/>
            <a:ext cx="10058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Authentication</a:t>
            </a:r>
            <a:endParaRPr lang="en-US" sz="1000" dirty="0"/>
          </a:p>
        </p:txBody>
      </p:sp>
      <p:sp>
        <p:nvSpPr>
          <p:cNvPr id="15" name="Shape 12"/>
          <p:cNvSpPr/>
          <p:nvPr/>
        </p:nvSpPr>
        <p:spPr>
          <a:xfrm>
            <a:off x="7863840" y="6181344"/>
            <a:ext cx="320040" cy="0"/>
          </a:xfrm>
          <a:prstGeom prst="line">
            <a:avLst/>
          </a:prstGeom>
          <a:noFill/>
          <a:ln w="25400">
            <a:solidFill>
              <a:srgbClr val="1A73E8"/>
            </a:solidFill>
            <a:prstDash val="solid"/>
            <a:tailEnd type="triangle"/>
          </a:ln>
        </p:spPr>
      </p:sp>
      <p:sp>
        <p:nvSpPr>
          <p:cNvPr id="16" name="Text 13"/>
          <p:cNvSpPr/>
          <p:nvPr/>
        </p:nvSpPr>
        <p:spPr>
          <a:xfrm>
            <a:off x="8229600" y="6053328"/>
            <a:ext cx="6629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Sync call</a:t>
            </a:r>
            <a:endParaRPr lang="en-US" sz="1000" dirty="0"/>
          </a:p>
        </p:txBody>
      </p:sp>
      <p:sp>
        <p:nvSpPr>
          <p:cNvPr id="25" name="Slide Number Placeholder 0"/>
          <p:cNvSpPr>
            <a:spLocks noGrp="1"/>
          </p:cNvSpPr>
          <p:nvPr>
            <p:ph type="sldNum" sz="quarter" idx="4294967295"/>
          </p:nvPr>
        </p:nvSpPr>
        <p:spPr>
          <a:xfrm>
            <a:off x="11368735"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p:nvPr/>
        </p:nvSpPr>
        <p:spPr>
          <a:xfrm>
            <a:off x="411480" y="182880"/>
            <a:ext cx="11368735" cy="548640"/>
          </a:xfrm>
          <a:prstGeom prst="rect">
            <a:avLst/>
          </a:prstGeom>
          <a:noFill/>
          <a:ln/>
        </p:spPr>
        <p:txBody>
          <a:bodyPr wrap="square" lIns="0" tIns="0" rIns="0" bIns="0" rtlCol="0" anchor="ctr"/>
          <a:lstStyle/>
          <a:p>
            <a:pPr indent="0" marL="0">
              <a:buNone/>
            </a:pPr>
            <a:r>
              <a:rPr lang="en-US" sz="2800" b="1" dirty="0">
                <a:solidFill>
                  <a:srgbClr val="1F3A68"/>
                </a:solidFill>
                <a:latin typeface="Calibri" pitchFamily="34" charset="0"/>
                <a:ea typeface="Calibri" pitchFamily="34" charset="-122"/>
                <a:cs typeface="Calibri" pitchFamily="34" charset="-120"/>
              </a:rPr>
              <a:t>Observability pattern</a:t>
            </a:r>
            <a:endParaRPr lang="en-US" sz="2800" dirty="0"/>
          </a:p>
        </p:txBody>
      </p:sp>
      <p:sp>
        <p:nvSpPr>
          <p:cNvPr id="3" name="Message"/>
          <p:cNvSpPr/>
          <p:nvPr/>
        </p:nvSpPr>
        <p:spPr>
          <a:xfrm>
            <a:off x="411480" y="731520"/>
            <a:ext cx="11368735" cy="320040"/>
          </a:xfrm>
          <a:prstGeom prst="rect">
            <a:avLst/>
          </a:prstGeom>
          <a:noFill/>
          <a:ln/>
        </p:spPr>
        <p:txBody>
          <a:bodyPr wrap="square" lIns="0" tIns="0" rIns="0" bIns="0" rtlCol="0" anchor="ctr"/>
          <a:lstStyle/>
          <a:p>
            <a:pPr indent="0" marL="0">
              <a:buNone/>
            </a:pPr>
            <a:r>
              <a:rPr lang="en-US" sz="1500" dirty="0">
                <a:solidFill>
                  <a:srgbClr val="5A6478"/>
                </a:solidFill>
                <a:latin typeface="Calibri" pitchFamily="34" charset="0"/>
                <a:ea typeface="Calibri" pitchFamily="34" charset="-122"/>
                <a:cs typeface="Calibri" pitchFamily="34" charset="-120"/>
              </a:rPr>
              <a:t>One trace follows a booking through every service and message</a:t>
            </a:r>
            <a:endParaRPr lang="en-US" sz="1500" dirty="0"/>
          </a:p>
        </p:txBody>
      </p:sp>
      <p:pic>
        <p:nvPicPr>
          <p:cNvPr id="4" name="Image 0" descr="examples/clinic-booking/design/deck/assets/09-patterns-p2.png">    </p:cNvPr>
          <p:cNvPicPr>
            <a:picLocks noChangeAspect="1"/>
          </p:cNvPicPr>
          <p:nvPr/>
        </p:nvPicPr>
        <p:blipFill>
          <a:blip r:embed="rId1"/>
          <a:stretch>
            <a:fillRect/>
          </a:stretch>
        </p:blipFill>
        <p:spPr>
          <a:xfrm>
            <a:off x="411480" y="2408353"/>
            <a:ext cx="11368735" cy="2397911"/>
          </a:xfrm>
          <a:prstGeom prst="rect">
            <a:avLst/>
          </a:prstGeom>
        </p:spPr>
      </p:pic>
      <p:sp>
        <p:nvSpPr>
          <p:cNvPr id="5" name="Shape 2"/>
          <p:cNvSpPr/>
          <p:nvPr/>
        </p:nvSpPr>
        <p:spPr>
          <a:xfrm>
            <a:off x="411480" y="6108192"/>
            <a:ext cx="292608" cy="146304"/>
          </a:xfrm>
          <a:prstGeom prst="rect">
            <a:avLst/>
          </a:prstGeom>
          <a:solidFill>
            <a:srgbClr val="DAE8FC"/>
          </a:solidFill>
          <a:ln w="12700">
            <a:solidFill>
              <a:srgbClr val="6C8EBF"/>
            </a:solidFill>
            <a:prstDash val="solid"/>
          </a:ln>
        </p:spPr>
      </p:sp>
      <p:sp>
        <p:nvSpPr>
          <p:cNvPr id="6" name="Text 3"/>
          <p:cNvSpPr/>
          <p:nvPr/>
        </p:nvSpPr>
        <p:spPr>
          <a:xfrm>
            <a:off x="777240" y="6053328"/>
            <a:ext cx="10058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Core subdomain</a:t>
            </a:r>
            <a:endParaRPr lang="en-US" sz="1000" dirty="0"/>
          </a:p>
        </p:txBody>
      </p:sp>
      <p:sp>
        <p:nvSpPr>
          <p:cNvPr id="7" name="Shape 4"/>
          <p:cNvSpPr/>
          <p:nvPr/>
        </p:nvSpPr>
        <p:spPr>
          <a:xfrm>
            <a:off x="2011680" y="6108192"/>
            <a:ext cx="292608" cy="146304"/>
          </a:xfrm>
          <a:prstGeom prst="rect">
            <a:avLst/>
          </a:prstGeom>
          <a:solidFill>
            <a:srgbClr val="FFE6CC"/>
          </a:solidFill>
          <a:ln w="12700">
            <a:solidFill>
              <a:srgbClr val="D79B00"/>
            </a:solidFill>
            <a:prstDash val="solid"/>
          </a:ln>
        </p:spPr>
      </p:sp>
      <p:sp>
        <p:nvSpPr>
          <p:cNvPr id="8" name="Text 5"/>
          <p:cNvSpPr/>
          <p:nvPr/>
        </p:nvSpPr>
        <p:spPr>
          <a:xfrm>
            <a:off x="2377440" y="6053328"/>
            <a:ext cx="10058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Message broker</a:t>
            </a:r>
            <a:endParaRPr lang="en-US" sz="1000" dirty="0"/>
          </a:p>
        </p:txBody>
      </p:sp>
      <p:sp>
        <p:nvSpPr>
          <p:cNvPr id="9" name="Shape 6"/>
          <p:cNvSpPr/>
          <p:nvPr/>
        </p:nvSpPr>
        <p:spPr>
          <a:xfrm>
            <a:off x="3611880" y="6181344"/>
            <a:ext cx="320040" cy="0"/>
          </a:xfrm>
          <a:prstGeom prst="line">
            <a:avLst/>
          </a:prstGeom>
          <a:noFill/>
          <a:ln w="25400">
            <a:solidFill>
              <a:srgbClr val="E8A400"/>
            </a:solidFill>
            <a:prstDash val="dash"/>
            <a:tailEnd type="triangle"/>
          </a:ln>
        </p:spPr>
      </p:sp>
      <p:sp>
        <p:nvSpPr>
          <p:cNvPr id="10" name="Text 7"/>
          <p:cNvSpPr/>
          <p:nvPr/>
        </p:nvSpPr>
        <p:spPr>
          <a:xfrm>
            <a:off x="3977640" y="6053328"/>
            <a:ext cx="80010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Async event</a:t>
            </a:r>
            <a:endParaRPr lang="en-US" sz="1000" dirty="0"/>
          </a:p>
        </p:txBody>
      </p:sp>
      <p:sp>
        <p:nvSpPr>
          <p:cNvPr id="11" name="Shape 8"/>
          <p:cNvSpPr/>
          <p:nvPr/>
        </p:nvSpPr>
        <p:spPr>
          <a:xfrm>
            <a:off x="5006340" y="6181344"/>
            <a:ext cx="320040" cy="0"/>
          </a:xfrm>
          <a:prstGeom prst="line">
            <a:avLst/>
          </a:prstGeom>
          <a:noFill/>
          <a:ln w="25400">
            <a:solidFill>
              <a:srgbClr val="1A73E8"/>
            </a:solidFill>
            <a:prstDash val="solid"/>
            <a:tailEnd type="triangle"/>
          </a:ln>
        </p:spPr>
      </p:sp>
      <p:sp>
        <p:nvSpPr>
          <p:cNvPr id="12" name="Text 9"/>
          <p:cNvSpPr/>
          <p:nvPr/>
        </p:nvSpPr>
        <p:spPr>
          <a:xfrm>
            <a:off x="5372100" y="6053328"/>
            <a:ext cx="6629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Sync call</a:t>
            </a:r>
            <a:endParaRPr lang="en-US" sz="1000" dirty="0"/>
          </a:p>
        </p:txBody>
      </p:sp>
      <p:sp>
        <p:nvSpPr>
          <p:cNvPr id="25" name="Slide Number Placeholder 0"/>
          <p:cNvSpPr>
            <a:spLocks noGrp="1"/>
          </p:cNvSpPr>
          <p:nvPr>
            <p:ph type="sldNum" sz="quarter" idx="4294967295"/>
          </p:nvPr>
        </p:nvSpPr>
        <p:spPr>
          <a:xfrm>
            <a:off x="11368735"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p:nvPr/>
        </p:nvSpPr>
        <p:spPr>
          <a:xfrm>
            <a:off x="411480" y="182880"/>
            <a:ext cx="11368735" cy="548640"/>
          </a:xfrm>
          <a:prstGeom prst="rect">
            <a:avLst/>
          </a:prstGeom>
          <a:noFill/>
          <a:ln/>
        </p:spPr>
        <p:txBody>
          <a:bodyPr wrap="square" lIns="0" tIns="0" rIns="0" bIns="0" rtlCol="0" anchor="ctr"/>
          <a:lstStyle/>
          <a:p>
            <a:pPr indent="0" marL="0">
              <a:buNone/>
            </a:pPr>
            <a:r>
              <a:rPr lang="en-US" sz="2800" b="1" dirty="0">
                <a:solidFill>
                  <a:srgbClr val="1F3A68"/>
                </a:solidFill>
                <a:latin typeface="Calibri" pitchFamily="34" charset="0"/>
                <a:ea typeface="Calibri" pitchFamily="34" charset="-122"/>
                <a:cs typeface="Calibri" pitchFamily="34" charset="-120"/>
              </a:rPr>
              <a:t>Resilience pattern</a:t>
            </a:r>
            <a:endParaRPr lang="en-US" sz="2800" dirty="0"/>
          </a:p>
        </p:txBody>
      </p:sp>
      <p:sp>
        <p:nvSpPr>
          <p:cNvPr id="3" name="Message"/>
          <p:cNvSpPr/>
          <p:nvPr/>
        </p:nvSpPr>
        <p:spPr>
          <a:xfrm>
            <a:off x="411480" y="731520"/>
            <a:ext cx="11368735" cy="320040"/>
          </a:xfrm>
          <a:prstGeom prst="rect">
            <a:avLst/>
          </a:prstGeom>
          <a:noFill/>
          <a:ln/>
        </p:spPr>
        <p:txBody>
          <a:bodyPr wrap="square" lIns="0" tIns="0" rIns="0" bIns="0" rtlCol="0" anchor="ctr"/>
          <a:lstStyle/>
          <a:p>
            <a:pPr indent="0" marL="0">
              <a:buNone/>
            </a:pPr>
            <a:r>
              <a:rPr lang="en-US" sz="1500" dirty="0">
                <a:solidFill>
                  <a:srgbClr val="5A6478"/>
                </a:solidFill>
                <a:latin typeface="Calibri" pitchFamily="34" charset="0"/>
                <a:ea typeface="Calibri" pitchFamily="34" charset="-122"/>
                <a:cs typeface="Calibri" pitchFamily="34" charset="-120"/>
              </a:rPr>
              <a:t>Timeouts, retries, circuit breakers and fallbacks on every partner call</a:t>
            </a:r>
            <a:endParaRPr lang="en-US" sz="1500" dirty="0"/>
          </a:p>
        </p:txBody>
      </p:sp>
      <p:pic>
        <p:nvPicPr>
          <p:cNvPr id="4" name="Image 0" descr="examples/clinic-booking/design/deck/assets/09-patterns-p3.png">    </p:cNvPr>
          <p:cNvPicPr>
            <a:picLocks noChangeAspect="1"/>
          </p:cNvPicPr>
          <p:nvPr/>
        </p:nvPicPr>
        <p:blipFill>
          <a:blip r:embed="rId1"/>
          <a:stretch>
            <a:fillRect/>
          </a:stretch>
        </p:blipFill>
        <p:spPr>
          <a:xfrm>
            <a:off x="411480" y="1321921"/>
            <a:ext cx="11368735" cy="4570775"/>
          </a:xfrm>
          <a:prstGeom prst="rect">
            <a:avLst/>
          </a:prstGeom>
        </p:spPr>
      </p:pic>
      <p:sp>
        <p:nvSpPr>
          <p:cNvPr id="5" name="Shape 2"/>
          <p:cNvSpPr/>
          <p:nvPr/>
        </p:nvSpPr>
        <p:spPr>
          <a:xfrm>
            <a:off x="411480" y="6108192"/>
            <a:ext cx="292608" cy="146304"/>
          </a:xfrm>
          <a:prstGeom prst="rect">
            <a:avLst/>
          </a:prstGeom>
          <a:solidFill>
            <a:srgbClr val="E1D5E7"/>
          </a:solidFill>
          <a:ln w="12700">
            <a:solidFill>
              <a:srgbClr val="9673A6"/>
            </a:solidFill>
            <a:prstDash val="solid"/>
          </a:ln>
        </p:spPr>
      </p:sp>
      <p:sp>
        <p:nvSpPr>
          <p:cNvPr id="6" name="Text 3"/>
          <p:cNvSpPr/>
          <p:nvPr/>
        </p:nvSpPr>
        <p:spPr>
          <a:xfrm>
            <a:off x="777240" y="6053328"/>
            <a:ext cx="121158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Generic subdomain</a:t>
            </a:r>
            <a:endParaRPr lang="en-US" sz="1000" dirty="0"/>
          </a:p>
        </p:txBody>
      </p:sp>
      <p:sp>
        <p:nvSpPr>
          <p:cNvPr id="7" name="Shape 4"/>
          <p:cNvSpPr/>
          <p:nvPr/>
        </p:nvSpPr>
        <p:spPr>
          <a:xfrm>
            <a:off x="2217420" y="6108192"/>
            <a:ext cx="292608" cy="146304"/>
          </a:xfrm>
          <a:prstGeom prst="rect">
            <a:avLst/>
          </a:prstGeom>
          <a:solidFill>
            <a:srgbClr val="F5F5F5"/>
          </a:solidFill>
          <a:ln w="12700">
            <a:solidFill>
              <a:srgbClr val="666666"/>
            </a:solidFill>
            <a:prstDash val="dash"/>
          </a:ln>
        </p:spPr>
      </p:sp>
      <p:sp>
        <p:nvSpPr>
          <p:cNvPr id="8" name="Text 5"/>
          <p:cNvSpPr/>
          <p:nvPr/>
        </p:nvSpPr>
        <p:spPr>
          <a:xfrm>
            <a:off x="2583180" y="6053328"/>
            <a:ext cx="107442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External system</a:t>
            </a:r>
            <a:endParaRPr lang="en-US" sz="1000" dirty="0"/>
          </a:p>
        </p:txBody>
      </p:sp>
      <p:sp>
        <p:nvSpPr>
          <p:cNvPr id="9" name="Shape 6"/>
          <p:cNvSpPr/>
          <p:nvPr/>
        </p:nvSpPr>
        <p:spPr>
          <a:xfrm>
            <a:off x="3886200" y="6108192"/>
            <a:ext cx="292608" cy="146304"/>
          </a:xfrm>
          <a:prstGeom prst="rect">
            <a:avLst/>
          </a:prstGeom>
          <a:solidFill>
            <a:srgbClr val="D5E8D4"/>
          </a:solidFill>
          <a:ln w="12700">
            <a:solidFill>
              <a:srgbClr val="82B366"/>
            </a:solidFill>
            <a:prstDash val="solid"/>
          </a:ln>
        </p:spPr>
      </p:sp>
      <p:sp>
        <p:nvSpPr>
          <p:cNvPr id="10" name="Text 7"/>
          <p:cNvSpPr/>
          <p:nvPr/>
        </p:nvSpPr>
        <p:spPr>
          <a:xfrm>
            <a:off x="4251960" y="6053328"/>
            <a:ext cx="141732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Supporting subdomain</a:t>
            </a:r>
            <a:endParaRPr lang="en-US" sz="1000" dirty="0"/>
          </a:p>
        </p:txBody>
      </p:sp>
      <p:sp>
        <p:nvSpPr>
          <p:cNvPr id="11" name="Shape 8"/>
          <p:cNvSpPr/>
          <p:nvPr/>
        </p:nvSpPr>
        <p:spPr>
          <a:xfrm>
            <a:off x="5897880" y="6181344"/>
            <a:ext cx="320040" cy="0"/>
          </a:xfrm>
          <a:prstGeom prst="line">
            <a:avLst/>
          </a:prstGeom>
          <a:noFill/>
          <a:ln w="25400">
            <a:solidFill>
              <a:srgbClr val="7F7F7F"/>
            </a:solidFill>
            <a:prstDash val="dash"/>
            <a:tailEnd type="triangle"/>
          </a:ln>
        </p:spPr>
      </p:sp>
      <p:sp>
        <p:nvSpPr>
          <p:cNvPr id="12" name="Text 9"/>
          <p:cNvSpPr/>
          <p:nvPr/>
        </p:nvSpPr>
        <p:spPr>
          <a:xfrm>
            <a:off x="6263640" y="6053328"/>
            <a:ext cx="93726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External call</a:t>
            </a:r>
            <a:endParaRPr lang="en-US" sz="1000" dirty="0"/>
          </a:p>
        </p:txBody>
      </p:sp>
      <p:sp>
        <p:nvSpPr>
          <p:cNvPr id="25" name="Slide Number Placeholder 0"/>
          <p:cNvSpPr>
            <a:spLocks noGrp="1"/>
          </p:cNvSpPr>
          <p:nvPr>
            <p:ph type="sldNum" sz="quarter" idx="4294967295"/>
          </p:nvPr>
        </p:nvSpPr>
        <p:spPr>
          <a:xfrm>
            <a:off x="11368735"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p:nvPr/>
        </p:nvSpPr>
        <p:spPr>
          <a:xfrm>
            <a:off x="411480" y="182880"/>
            <a:ext cx="11368735" cy="548640"/>
          </a:xfrm>
          <a:prstGeom prst="rect">
            <a:avLst/>
          </a:prstGeom>
          <a:noFill/>
          <a:ln/>
        </p:spPr>
        <p:txBody>
          <a:bodyPr wrap="square" lIns="0" tIns="0" rIns="0" bIns="0" rtlCol="0" anchor="ctr"/>
          <a:lstStyle/>
          <a:p>
            <a:pPr indent="0" marL="0">
              <a:buNone/>
            </a:pPr>
            <a:r>
              <a:rPr lang="en-US" sz="2800" b="1" dirty="0">
                <a:solidFill>
                  <a:srgbClr val="1F3A68"/>
                </a:solidFill>
                <a:latin typeface="Calibri" pitchFamily="34" charset="0"/>
                <a:ea typeface="Calibri" pitchFamily="34" charset="-122"/>
                <a:cs typeface="Calibri" pitchFamily="34" charset="-120"/>
              </a:rPr>
              <a:t>High-level architecture</a:t>
            </a:r>
            <a:endParaRPr lang="en-US" sz="2800" dirty="0"/>
          </a:p>
        </p:txBody>
      </p:sp>
      <p:sp>
        <p:nvSpPr>
          <p:cNvPr id="3" name="Message"/>
          <p:cNvSpPr/>
          <p:nvPr/>
        </p:nvSpPr>
        <p:spPr>
          <a:xfrm>
            <a:off x="411480" y="731520"/>
            <a:ext cx="11368735" cy="320040"/>
          </a:xfrm>
          <a:prstGeom prst="rect">
            <a:avLst/>
          </a:prstGeom>
          <a:noFill/>
          <a:ln/>
        </p:spPr>
        <p:txBody>
          <a:bodyPr wrap="square" lIns="0" tIns="0" rIns="0" bIns="0" rtlCol="0" anchor="ctr"/>
          <a:lstStyle/>
          <a:p>
            <a:pPr indent="0" marL="0">
              <a:buNone/>
            </a:pPr>
            <a:r>
              <a:rPr lang="en-US" sz="1500" dirty="0">
                <a:solidFill>
                  <a:srgbClr val="5A6478"/>
                </a:solidFill>
                <a:latin typeface="Calibri" pitchFamily="34" charset="0"/>
                <a:ea typeface="Calibri" pitchFamily="34" charset="-122"/>
                <a:cs typeface="Calibri" pitchFamily="34" charset="-120"/>
              </a:rPr>
              <a:t>Clients reach 8 services through one gateway; data and messaging are managed services</a:t>
            </a:r>
            <a:endParaRPr lang="en-US" sz="1500" dirty="0"/>
          </a:p>
        </p:txBody>
      </p:sp>
      <p:pic>
        <p:nvPicPr>
          <p:cNvPr id="4" name="Image 0" descr="examples/clinic-booking/design/deck/assets/10-architecture-p1.png">    </p:cNvPr>
          <p:cNvPicPr>
            <a:picLocks noChangeAspect="1"/>
          </p:cNvPicPr>
          <p:nvPr/>
        </p:nvPicPr>
        <p:blipFill>
          <a:blip r:embed="rId1"/>
          <a:stretch>
            <a:fillRect/>
          </a:stretch>
        </p:blipFill>
        <p:spPr>
          <a:xfrm>
            <a:off x="989799" y="1188720"/>
            <a:ext cx="10212098" cy="4599432"/>
          </a:xfrm>
          <a:prstGeom prst="rect">
            <a:avLst/>
          </a:prstGeom>
        </p:spPr>
      </p:pic>
      <p:sp>
        <p:nvSpPr>
          <p:cNvPr id="5" name="Shape 2"/>
          <p:cNvSpPr/>
          <p:nvPr/>
        </p:nvSpPr>
        <p:spPr>
          <a:xfrm>
            <a:off x="411480" y="5870448"/>
            <a:ext cx="292608" cy="146304"/>
          </a:xfrm>
          <a:prstGeom prst="rect">
            <a:avLst/>
          </a:prstGeom>
          <a:solidFill>
            <a:srgbClr val="DAE8FC"/>
          </a:solidFill>
          <a:ln w="12700">
            <a:solidFill>
              <a:srgbClr val="6C8EBF"/>
            </a:solidFill>
            <a:prstDash val="solid"/>
          </a:ln>
        </p:spPr>
      </p:sp>
      <p:sp>
        <p:nvSpPr>
          <p:cNvPr id="6" name="Text 3"/>
          <p:cNvSpPr/>
          <p:nvPr/>
        </p:nvSpPr>
        <p:spPr>
          <a:xfrm>
            <a:off x="777240" y="5815584"/>
            <a:ext cx="10058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Core subdomain</a:t>
            </a:r>
            <a:endParaRPr lang="en-US" sz="1000" dirty="0"/>
          </a:p>
        </p:txBody>
      </p:sp>
      <p:sp>
        <p:nvSpPr>
          <p:cNvPr id="7" name="Shape 4"/>
          <p:cNvSpPr/>
          <p:nvPr/>
        </p:nvSpPr>
        <p:spPr>
          <a:xfrm>
            <a:off x="2011680" y="5870448"/>
            <a:ext cx="292608" cy="146304"/>
          </a:xfrm>
          <a:prstGeom prst="rect">
            <a:avLst/>
          </a:prstGeom>
          <a:solidFill>
            <a:srgbClr val="D5E8D4"/>
          </a:solidFill>
          <a:ln w="12700">
            <a:solidFill>
              <a:srgbClr val="82B366"/>
            </a:solidFill>
            <a:prstDash val="solid"/>
          </a:ln>
        </p:spPr>
      </p:sp>
      <p:sp>
        <p:nvSpPr>
          <p:cNvPr id="8" name="Text 5"/>
          <p:cNvSpPr/>
          <p:nvPr/>
        </p:nvSpPr>
        <p:spPr>
          <a:xfrm>
            <a:off x="2377440" y="5815584"/>
            <a:ext cx="141732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Supporting subdomain</a:t>
            </a:r>
            <a:endParaRPr lang="en-US" sz="1000" dirty="0"/>
          </a:p>
        </p:txBody>
      </p:sp>
      <p:sp>
        <p:nvSpPr>
          <p:cNvPr id="9" name="Shape 6"/>
          <p:cNvSpPr/>
          <p:nvPr/>
        </p:nvSpPr>
        <p:spPr>
          <a:xfrm>
            <a:off x="4023360" y="5870448"/>
            <a:ext cx="292608" cy="146304"/>
          </a:xfrm>
          <a:prstGeom prst="rect">
            <a:avLst/>
          </a:prstGeom>
          <a:solidFill>
            <a:srgbClr val="E1D5E7"/>
          </a:solidFill>
          <a:ln w="12700">
            <a:solidFill>
              <a:srgbClr val="9673A6"/>
            </a:solidFill>
            <a:prstDash val="solid"/>
          </a:ln>
        </p:spPr>
      </p:sp>
      <p:sp>
        <p:nvSpPr>
          <p:cNvPr id="10" name="Text 7"/>
          <p:cNvSpPr/>
          <p:nvPr/>
        </p:nvSpPr>
        <p:spPr>
          <a:xfrm>
            <a:off x="4389120" y="5815584"/>
            <a:ext cx="121158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Generic subdomain</a:t>
            </a:r>
            <a:endParaRPr lang="en-US" sz="1000" dirty="0"/>
          </a:p>
        </p:txBody>
      </p:sp>
      <p:sp>
        <p:nvSpPr>
          <p:cNvPr id="11" name="Shape 8"/>
          <p:cNvSpPr/>
          <p:nvPr/>
        </p:nvSpPr>
        <p:spPr>
          <a:xfrm>
            <a:off x="5829300" y="5870448"/>
            <a:ext cx="292608" cy="146304"/>
          </a:xfrm>
          <a:prstGeom prst="rect">
            <a:avLst/>
          </a:prstGeom>
          <a:solidFill>
            <a:srgbClr val="F5F5F5"/>
          </a:solidFill>
          <a:ln w="12700">
            <a:solidFill>
              <a:srgbClr val="666666"/>
            </a:solidFill>
            <a:prstDash val="solid"/>
          </a:ln>
        </p:spPr>
      </p:sp>
      <p:sp>
        <p:nvSpPr>
          <p:cNvPr id="12" name="Text 9"/>
          <p:cNvSpPr/>
          <p:nvPr/>
        </p:nvSpPr>
        <p:spPr>
          <a:xfrm>
            <a:off x="6195060" y="5815584"/>
            <a:ext cx="45720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Client</a:t>
            </a:r>
            <a:endParaRPr lang="en-US" sz="1000" dirty="0"/>
          </a:p>
        </p:txBody>
      </p:sp>
      <p:sp>
        <p:nvSpPr>
          <p:cNvPr id="13" name="Shape 10"/>
          <p:cNvSpPr/>
          <p:nvPr/>
        </p:nvSpPr>
        <p:spPr>
          <a:xfrm>
            <a:off x="6880860" y="5870448"/>
            <a:ext cx="292608" cy="146304"/>
          </a:xfrm>
          <a:prstGeom prst="rect">
            <a:avLst/>
          </a:prstGeom>
          <a:solidFill>
            <a:srgbClr val="FFE6CC"/>
          </a:solidFill>
          <a:ln w="12700">
            <a:solidFill>
              <a:srgbClr val="D79B00"/>
            </a:solidFill>
            <a:prstDash val="solid"/>
          </a:ln>
        </p:spPr>
      </p:sp>
      <p:sp>
        <p:nvSpPr>
          <p:cNvPr id="14" name="Text 11"/>
          <p:cNvSpPr/>
          <p:nvPr/>
        </p:nvSpPr>
        <p:spPr>
          <a:xfrm>
            <a:off x="7246620" y="5815584"/>
            <a:ext cx="80010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API gateway</a:t>
            </a:r>
            <a:endParaRPr lang="en-US" sz="1000" dirty="0"/>
          </a:p>
        </p:txBody>
      </p:sp>
      <p:sp>
        <p:nvSpPr>
          <p:cNvPr id="15" name="Shape 12"/>
          <p:cNvSpPr/>
          <p:nvPr/>
        </p:nvSpPr>
        <p:spPr>
          <a:xfrm>
            <a:off x="8275320" y="5870448"/>
            <a:ext cx="292608" cy="146304"/>
          </a:xfrm>
          <a:prstGeom prst="rect">
            <a:avLst/>
          </a:prstGeom>
          <a:solidFill>
            <a:srgbClr val="F8CECC"/>
          </a:solidFill>
          <a:ln w="12700">
            <a:solidFill>
              <a:srgbClr val="B85450"/>
            </a:solidFill>
            <a:prstDash val="solid"/>
          </a:ln>
        </p:spPr>
      </p:sp>
      <p:sp>
        <p:nvSpPr>
          <p:cNvPr id="16" name="Text 13"/>
          <p:cNvSpPr/>
          <p:nvPr/>
        </p:nvSpPr>
        <p:spPr>
          <a:xfrm>
            <a:off x="8641080" y="5815584"/>
            <a:ext cx="121158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Identity provider</a:t>
            </a:r>
            <a:endParaRPr lang="en-US" sz="1000" dirty="0"/>
          </a:p>
        </p:txBody>
      </p:sp>
      <p:sp>
        <p:nvSpPr>
          <p:cNvPr id="17" name="Shape 14"/>
          <p:cNvSpPr/>
          <p:nvPr/>
        </p:nvSpPr>
        <p:spPr>
          <a:xfrm>
            <a:off x="10081260" y="5870448"/>
            <a:ext cx="292608" cy="146304"/>
          </a:xfrm>
          <a:prstGeom prst="rect">
            <a:avLst/>
          </a:prstGeom>
          <a:solidFill>
            <a:srgbClr val="FFE6CC"/>
          </a:solidFill>
          <a:ln w="12700">
            <a:solidFill>
              <a:srgbClr val="D79B00"/>
            </a:solidFill>
            <a:prstDash val="solid"/>
          </a:ln>
        </p:spPr>
      </p:sp>
      <p:sp>
        <p:nvSpPr>
          <p:cNvPr id="18" name="Text 15"/>
          <p:cNvSpPr/>
          <p:nvPr/>
        </p:nvSpPr>
        <p:spPr>
          <a:xfrm>
            <a:off x="10447020" y="5815584"/>
            <a:ext cx="73152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Data store</a:t>
            </a:r>
            <a:endParaRPr lang="en-US" sz="1000" dirty="0"/>
          </a:p>
        </p:txBody>
      </p:sp>
      <p:sp>
        <p:nvSpPr>
          <p:cNvPr id="19" name="Shape 16"/>
          <p:cNvSpPr/>
          <p:nvPr/>
        </p:nvSpPr>
        <p:spPr>
          <a:xfrm>
            <a:off x="411480" y="6108192"/>
            <a:ext cx="292608" cy="146304"/>
          </a:xfrm>
          <a:prstGeom prst="rect">
            <a:avLst/>
          </a:prstGeom>
          <a:solidFill>
            <a:srgbClr val="FFE6CC"/>
          </a:solidFill>
          <a:ln w="12700">
            <a:solidFill>
              <a:srgbClr val="D79B00"/>
            </a:solidFill>
            <a:prstDash val="solid"/>
          </a:ln>
        </p:spPr>
      </p:sp>
      <p:sp>
        <p:nvSpPr>
          <p:cNvPr id="20" name="Text 17"/>
          <p:cNvSpPr/>
          <p:nvPr/>
        </p:nvSpPr>
        <p:spPr>
          <a:xfrm>
            <a:off x="777240" y="6053328"/>
            <a:ext cx="10058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Message broker</a:t>
            </a:r>
            <a:endParaRPr lang="en-US" sz="1000" dirty="0"/>
          </a:p>
        </p:txBody>
      </p:sp>
      <p:sp>
        <p:nvSpPr>
          <p:cNvPr id="21" name="Shape 18"/>
          <p:cNvSpPr/>
          <p:nvPr/>
        </p:nvSpPr>
        <p:spPr>
          <a:xfrm>
            <a:off x="2011680" y="6108192"/>
            <a:ext cx="292608" cy="146304"/>
          </a:xfrm>
          <a:prstGeom prst="rect">
            <a:avLst/>
          </a:prstGeom>
          <a:solidFill>
            <a:srgbClr val="F5F5F5"/>
          </a:solidFill>
          <a:ln w="12700">
            <a:solidFill>
              <a:srgbClr val="666666"/>
            </a:solidFill>
            <a:prstDash val="dash"/>
          </a:ln>
        </p:spPr>
      </p:sp>
      <p:sp>
        <p:nvSpPr>
          <p:cNvPr id="22" name="Text 19"/>
          <p:cNvSpPr/>
          <p:nvPr/>
        </p:nvSpPr>
        <p:spPr>
          <a:xfrm>
            <a:off x="2377440" y="6053328"/>
            <a:ext cx="107442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External system</a:t>
            </a:r>
            <a:endParaRPr lang="en-US" sz="1000" dirty="0"/>
          </a:p>
        </p:txBody>
      </p:sp>
      <p:sp>
        <p:nvSpPr>
          <p:cNvPr id="23" name="Shape 20"/>
          <p:cNvSpPr/>
          <p:nvPr/>
        </p:nvSpPr>
        <p:spPr>
          <a:xfrm>
            <a:off x="3680460" y="6181344"/>
            <a:ext cx="320040" cy="0"/>
          </a:xfrm>
          <a:prstGeom prst="line">
            <a:avLst/>
          </a:prstGeom>
          <a:noFill/>
          <a:ln w="25400">
            <a:solidFill>
              <a:srgbClr val="7B1FA2"/>
            </a:solidFill>
            <a:prstDash val="solid"/>
            <a:tailEnd type="triangle"/>
          </a:ln>
        </p:spPr>
      </p:sp>
      <p:sp>
        <p:nvSpPr>
          <p:cNvPr id="24" name="Text 21"/>
          <p:cNvSpPr/>
          <p:nvPr/>
        </p:nvSpPr>
        <p:spPr>
          <a:xfrm>
            <a:off x="4046220" y="6053328"/>
            <a:ext cx="10058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Authentication</a:t>
            </a:r>
            <a:endParaRPr lang="en-US" sz="1000" dirty="0"/>
          </a:p>
        </p:txBody>
      </p:sp>
      <p:sp>
        <p:nvSpPr>
          <p:cNvPr id="25" name="Shape 22"/>
          <p:cNvSpPr/>
          <p:nvPr/>
        </p:nvSpPr>
        <p:spPr>
          <a:xfrm>
            <a:off x="5280660" y="6181344"/>
            <a:ext cx="320040" cy="0"/>
          </a:xfrm>
          <a:prstGeom prst="line">
            <a:avLst/>
          </a:prstGeom>
          <a:noFill/>
          <a:ln w="25400">
            <a:solidFill>
              <a:srgbClr val="1A73E8"/>
            </a:solidFill>
            <a:prstDash val="solid"/>
            <a:tailEnd type="triangle"/>
          </a:ln>
        </p:spPr>
      </p:sp>
      <p:sp>
        <p:nvSpPr>
          <p:cNvPr id="26" name="Text 23"/>
          <p:cNvSpPr/>
          <p:nvPr/>
        </p:nvSpPr>
        <p:spPr>
          <a:xfrm>
            <a:off x="5646420" y="6053328"/>
            <a:ext cx="6629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Sync call</a:t>
            </a:r>
            <a:endParaRPr lang="en-US" sz="1000" dirty="0"/>
          </a:p>
        </p:txBody>
      </p:sp>
      <p:sp>
        <p:nvSpPr>
          <p:cNvPr id="27" name="Shape 24"/>
          <p:cNvSpPr/>
          <p:nvPr/>
        </p:nvSpPr>
        <p:spPr>
          <a:xfrm>
            <a:off x="6537960" y="6181344"/>
            <a:ext cx="320040" cy="0"/>
          </a:xfrm>
          <a:prstGeom prst="line">
            <a:avLst/>
          </a:prstGeom>
          <a:noFill/>
          <a:ln w="25400">
            <a:solidFill>
              <a:srgbClr val="E8A400"/>
            </a:solidFill>
            <a:prstDash val="dash"/>
            <a:tailEnd type="triangle"/>
          </a:ln>
        </p:spPr>
      </p:sp>
      <p:sp>
        <p:nvSpPr>
          <p:cNvPr id="28" name="Text 25"/>
          <p:cNvSpPr/>
          <p:nvPr/>
        </p:nvSpPr>
        <p:spPr>
          <a:xfrm>
            <a:off x="6903720" y="6053328"/>
            <a:ext cx="80010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Async event</a:t>
            </a:r>
            <a:endParaRPr lang="en-US" sz="1000" dirty="0"/>
          </a:p>
        </p:txBody>
      </p:sp>
      <p:sp>
        <p:nvSpPr>
          <p:cNvPr id="29" name="Shape 26"/>
          <p:cNvSpPr/>
          <p:nvPr/>
        </p:nvSpPr>
        <p:spPr>
          <a:xfrm>
            <a:off x="7932420" y="6181344"/>
            <a:ext cx="320040" cy="0"/>
          </a:xfrm>
          <a:prstGeom prst="line">
            <a:avLst/>
          </a:prstGeom>
          <a:noFill/>
          <a:ln w="25400">
            <a:solidFill>
              <a:srgbClr val="00897B"/>
            </a:solidFill>
            <a:prstDash val="solid"/>
            <a:tailEnd type="triangle"/>
          </a:ln>
        </p:spPr>
      </p:sp>
      <p:sp>
        <p:nvSpPr>
          <p:cNvPr id="30" name="Text 27"/>
          <p:cNvSpPr/>
          <p:nvPr/>
        </p:nvSpPr>
        <p:spPr>
          <a:xfrm>
            <a:off x="8298180" y="6053328"/>
            <a:ext cx="80010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Data access</a:t>
            </a:r>
            <a:endParaRPr lang="en-US" sz="1000" dirty="0"/>
          </a:p>
        </p:txBody>
      </p:sp>
      <p:sp>
        <p:nvSpPr>
          <p:cNvPr id="31" name="Shape 28"/>
          <p:cNvSpPr/>
          <p:nvPr/>
        </p:nvSpPr>
        <p:spPr>
          <a:xfrm>
            <a:off x="9326880" y="6181344"/>
            <a:ext cx="320040" cy="0"/>
          </a:xfrm>
          <a:prstGeom prst="line">
            <a:avLst/>
          </a:prstGeom>
          <a:noFill/>
          <a:ln w="25400">
            <a:solidFill>
              <a:srgbClr val="7F7F7F"/>
            </a:solidFill>
            <a:prstDash val="dash"/>
            <a:tailEnd type="triangle"/>
          </a:ln>
        </p:spPr>
      </p:sp>
      <p:sp>
        <p:nvSpPr>
          <p:cNvPr id="32" name="Text 29"/>
          <p:cNvSpPr/>
          <p:nvPr/>
        </p:nvSpPr>
        <p:spPr>
          <a:xfrm>
            <a:off x="9692640" y="6053328"/>
            <a:ext cx="93726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External call</a:t>
            </a:r>
            <a:endParaRPr lang="en-US" sz="1000" dirty="0"/>
          </a:p>
        </p:txBody>
      </p:sp>
      <p:sp>
        <p:nvSpPr>
          <p:cNvPr id="25" name="Slide Number Placeholder 0"/>
          <p:cNvSpPr>
            <a:spLocks noGrp="1"/>
          </p:cNvSpPr>
          <p:nvPr>
            <p:ph type="sldNum" sz="quarter" idx="4294967295"/>
          </p:nvPr>
        </p:nvSpPr>
        <p:spPr>
          <a:xfrm>
            <a:off x="11368735"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p:nvPr/>
        </p:nvSpPr>
        <p:spPr>
          <a:xfrm>
            <a:off x="411480" y="182880"/>
            <a:ext cx="11368735" cy="548640"/>
          </a:xfrm>
          <a:prstGeom prst="rect">
            <a:avLst/>
          </a:prstGeom>
          <a:noFill/>
          <a:ln/>
        </p:spPr>
        <p:txBody>
          <a:bodyPr wrap="square" lIns="0" tIns="0" rIns="0" bIns="0" rtlCol="0" anchor="ctr"/>
          <a:lstStyle/>
          <a:p>
            <a:pPr indent="0" marL="0">
              <a:buNone/>
            </a:pPr>
            <a:r>
              <a:rPr lang="en-US" sz="2800" b="1" dirty="0">
                <a:solidFill>
                  <a:srgbClr val="1F3A68"/>
                </a:solidFill>
                <a:latin typeface="Calibri" pitchFamily="34" charset="0"/>
                <a:ea typeface="Calibri" pitchFamily="34" charset="-122"/>
                <a:cs typeface="Calibri" pitchFamily="34" charset="-120"/>
              </a:rPr>
              <a:t>Physical view and network</a:t>
            </a:r>
            <a:endParaRPr lang="en-US" sz="2800" dirty="0"/>
          </a:p>
        </p:txBody>
      </p:sp>
      <p:sp>
        <p:nvSpPr>
          <p:cNvPr id="3" name="Message"/>
          <p:cNvSpPr/>
          <p:nvPr/>
        </p:nvSpPr>
        <p:spPr>
          <a:xfrm>
            <a:off x="411480" y="731520"/>
            <a:ext cx="11368735" cy="320040"/>
          </a:xfrm>
          <a:prstGeom prst="rect">
            <a:avLst/>
          </a:prstGeom>
          <a:noFill/>
          <a:ln/>
        </p:spPr>
        <p:txBody>
          <a:bodyPr wrap="square" lIns="0" tIns="0" rIns="0" bIns="0" rtlCol="0" anchor="ctr"/>
          <a:lstStyle/>
          <a:p>
            <a:pPr indent="0" marL="0">
              <a:buNone/>
            </a:pPr>
            <a:r>
              <a:rPr lang="en-US" sz="1500" dirty="0">
                <a:solidFill>
                  <a:srgbClr val="5A6478"/>
                </a:solidFill>
                <a:latin typeface="Calibri" pitchFamily="34" charset="0"/>
                <a:ea typeface="Calibri" pitchFamily="34" charset="-122"/>
                <a:cs typeface="Calibri" pitchFamily="34" charset="-120"/>
              </a:rPr>
              <a:t>One AWS region, two availability zones, and three subnet tiers</a:t>
            </a:r>
            <a:endParaRPr lang="en-US" sz="1500" dirty="0"/>
          </a:p>
        </p:txBody>
      </p:sp>
      <p:pic>
        <p:nvPicPr>
          <p:cNvPr id="4" name="Image 0" descr="examples/clinic-booking/design/deck/assets/10-architecture-p2.png">    </p:cNvPr>
          <p:cNvPicPr>
            <a:picLocks noChangeAspect="1"/>
          </p:cNvPicPr>
          <p:nvPr/>
        </p:nvPicPr>
        <p:blipFill>
          <a:blip r:embed="rId1"/>
          <a:stretch>
            <a:fillRect/>
          </a:stretch>
        </p:blipFill>
        <p:spPr>
          <a:xfrm>
            <a:off x="1637004" y="1188720"/>
            <a:ext cx="8917687" cy="4599432"/>
          </a:xfrm>
          <a:prstGeom prst="rect">
            <a:avLst/>
          </a:prstGeom>
        </p:spPr>
      </p:pic>
      <p:sp>
        <p:nvSpPr>
          <p:cNvPr id="5" name="Shape 2"/>
          <p:cNvSpPr/>
          <p:nvPr/>
        </p:nvSpPr>
        <p:spPr>
          <a:xfrm>
            <a:off x="411480" y="5870448"/>
            <a:ext cx="292608" cy="146304"/>
          </a:xfrm>
          <a:prstGeom prst="rect">
            <a:avLst/>
          </a:prstGeom>
          <a:solidFill>
            <a:srgbClr val="DAE8FC"/>
          </a:solidFill>
          <a:ln w="12700">
            <a:solidFill>
              <a:srgbClr val="6C8EBF"/>
            </a:solidFill>
            <a:prstDash val="solid"/>
          </a:ln>
        </p:spPr>
      </p:sp>
      <p:sp>
        <p:nvSpPr>
          <p:cNvPr id="6" name="Text 3"/>
          <p:cNvSpPr/>
          <p:nvPr/>
        </p:nvSpPr>
        <p:spPr>
          <a:xfrm>
            <a:off x="777240" y="5815584"/>
            <a:ext cx="10058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Core subdomain</a:t>
            </a:r>
            <a:endParaRPr lang="en-US" sz="1000" dirty="0"/>
          </a:p>
        </p:txBody>
      </p:sp>
      <p:sp>
        <p:nvSpPr>
          <p:cNvPr id="7" name="Shape 4"/>
          <p:cNvSpPr/>
          <p:nvPr/>
        </p:nvSpPr>
        <p:spPr>
          <a:xfrm>
            <a:off x="2011680" y="5870448"/>
            <a:ext cx="292608" cy="146304"/>
          </a:xfrm>
          <a:prstGeom prst="rect">
            <a:avLst/>
          </a:prstGeom>
          <a:solidFill>
            <a:srgbClr val="D5E8D4"/>
          </a:solidFill>
          <a:ln w="12700">
            <a:solidFill>
              <a:srgbClr val="82B366"/>
            </a:solidFill>
            <a:prstDash val="solid"/>
          </a:ln>
        </p:spPr>
      </p:sp>
      <p:sp>
        <p:nvSpPr>
          <p:cNvPr id="8" name="Text 5"/>
          <p:cNvSpPr/>
          <p:nvPr/>
        </p:nvSpPr>
        <p:spPr>
          <a:xfrm>
            <a:off x="2377440" y="5815584"/>
            <a:ext cx="141732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Supporting subdomain</a:t>
            </a:r>
            <a:endParaRPr lang="en-US" sz="1000" dirty="0"/>
          </a:p>
        </p:txBody>
      </p:sp>
      <p:sp>
        <p:nvSpPr>
          <p:cNvPr id="9" name="Shape 6"/>
          <p:cNvSpPr/>
          <p:nvPr/>
        </p:nvSpPr>
        <p:spPr>
          <a:xfrm>
            <a:off x="4023360" y="5870448"/>
            <a:ext cx="292608" cy="146304"/>
          </a:xfrm>
          <a:prstGeom prst="rect">
            <a:avLst/>
          </a:prstGeom>
          <a:solidFill>
            <a:srgbClr val="E1D5E7"/>
          </a:solidFill>
          <a:ln w="12700">
            <a:solidFill>
              <a:srgbClr val="9673A6"/>
            </a:solidFill>
            <a:prstDash val="solid"/>
          </a:ln>
        </p:spPr>
      </p:sp>
      <p:sp>
        <p:nvSpPr>
          <p:cNvPr id="10" name="Text 7"/>
          <p:cNvSpPr/>
          <p:nvPr/>
        </p:nvSpPr>
        <p:spPr>
          <a:xfrm>
            <a:off x="4389120" y="5815584"/>
            <a:ext cx="121158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Generic subdomain</a:t>
            </a:r>
            <a:endParaRPr lang="en-US" sz="1000" dirty="0"/>
          </a:p>
        </p:txBody>
      </p:sp>
      <p:sp>
        <p:nvSpPr>
          <p:cNvPr id="11" name="Shape 8"/>
          <p:cNvSpPr/>
          <p:nvPr/>
        </p:nvSpPr>
        <p:spPr>
          <a:xfrm>
            <a:off x="5829300" y="5870448"/>
            <a:ext cx="292608" cy="146304"/>
          </a:xfrm>
          <a:prstGeom prst="rect">
            <a:avLst/>
          </a:prstGeom>
          <a:solidFill>
            <a:srgbClr val="F5F5F5"/>
          </a:solidFill>
          <a:ln w="12700">
            <a:solidFill>
              <a:srgbClr val="666666"/>
            </a:solidFill>
            <a:prstDash val="solid"/>
          </a:ln>
        </p:spPr>
      </p:sp>
      <p:sp>
        <p:nvSpPr>
          <p:cNvPr id="12" name="Text 9"/>
          <p:cNvSpPr/>
          <p:nvPr/>
        </p:nvSpPr>
        <p:spPr>
          <a:xfrm>
            <a:off x="6195060" y="5815584"/>
            <a:ext cx="45720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Client</a:t>
            </a:r>
            <a:endParaRPr lang="en-US" sz="1000" dirty="0"/>
          </a:p>
        </p:txBody>
      </p:sp>
      <p:sp>
        <p:nvSpPr>
          <p:cNvPr id="13" name="Shape 10"/>
          <p:cNvSpPr/>
          <p:nvPr/>
        </p:nvSpPr>
        <p:spPr>
          <a:xfrm>
            <a:off x="6880860" y="5870448"/>
            <a:ext cx="292608" cy="146304"/>
          </a:xfrm>
          <a:prstGeom prst="rect">
            <a:avLst/>
          </a:prstGeom>
          <a:solidFill>
            <a:srgbClr val="FFE6CC"/>
          </a:solidFill>
          <a:ln w="12700">
            <a:solidFill>
              <a:srgbClr val="D79B00"/>
            </a:solidFill>
            <a:prstDash val="solid"/>
          </a:ln>
        </p:spPr>
      </p:sp>
      <p:sp>
        <p:nvSpPr>
          <p:cNvPr id="14" name="Text 11"/>
          <p:cNvSpPr/>
          <p:nvPr/>
        </p:nvSpPr>
        <p:spPr>
          <a:xfrm>
            <a:off x="7246620" y="5815584"/>
            <a:ext cx="80010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API gateway</a:t>
            </a:r>
            <a:endParaRPr lang="en-US" sz="1000" dirty="0"/>
          </a:p>
        </p:txBody>
      </p:sp>
      <p:sp>
        <p:nvSpPr>
          <p:cNvPr id="15" name="Shape 12"/>
          <p:cNvSpPr/>
          <p:nvPr/>
        </p:nvSpPr>
        <p:spPr>
          <a:xfrm>
            <a:off x="8275320" y="5870448"/>
            <a:ext cx="292608" cy="146304"/>
          </a:xfrm>
          <a:prstGeom prst="rect">
            <a:avLst/>
          </a:prstGeom>
          <a:solidFill>
            <a:srgbClr val="F8CECC"/>
          </a:solidFill>
          <a:ln w="12700">
            <a:solidFill>
              <a:srgbClr val="B85450"/>
            </a:solidFill>
            <a:prstDash val="solid"/>
          </a:ln>
        </p:spPr>
      </p:sp>
      <p:sp>
        <p:nvSpPr>
          <p:cNvPr id="16" name="Text 13"/>
          <p:cNvSpPr/>
          <p:nvPr/>
        </p:nvSpPr>
        <p:spPr>
          <a:xfrm>
            <a:off x="8641080" y="5815584"/>
            <a:ext cx="121158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Identity provider</a:t>
            </a:r>
            <a:endParaRPr lang="en-US" sz="1000" dirty="0"/>
          </a:p>
        </p:txBody>
      </p:sp>
      <p:sp>
        <p:nvSpPr>
          <p:cNvPr id="17" name="Shape 14"/>
          <p:cNvSpPr/>
          <p:nvPr/>
        </p:nvSpPr>
        <p:spPr>
          <a:xfrm>
            <a:off x="10081260" y="5870448"/>
            <a:ext cx="292608" cy="146304"/>
          </a:xfrm>
          <a:prstGeom prst="rect">
            <a:avLst/>
          </a:prstGeom>
          <a:solidFill>
            <a:srgbClr val="FFE6CC"/>
          </a:solidFill>
          <a:ln w="12700">
            <a:solidFill>
              <a:srgbClr val="D79B00"/>
            </a:solidFill>
            <a:prstDash val="solid"/>
          </a:ln>
        </p:spPr>
      </p:sp>
      <p:sp>
        <p:nvSpPr>
          <p:cNvPr id="18" name="Text 15"/>
          <p:cNvSpPr/>
          <p:nvPr/>
        </p:nvSpPr>
        <p:spPr>
          <a:xfrm>
            <a:off x="10447020" y="5815584"/>
            <a:ext cx="73152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Data store</a:t>
            </a:r>
            <a:endParaRPr lang="en-US" sz="1000" dirty="0"/>
          </a:p>
        </p:txBody>
      </p:sp>
      <p:sp>
        <p:nvSpPr>
          <p:cNvPr id="19" name="Shape 16"/>
          <p:cNvSpPr/>
          <p:nvPr/>
        </p:nvSpPr>
        <p:spPr>
          <a:xfrm>
            <a:off x="411480" y="6108192"/>
            <a:ext cx="292608" cy="146304"/>
          </a:xfrm>
          <a:prstGeom prst="rect">
            <a:avLst/>
          </a:prstGeom>
          <a:solidFill>
            <a:srgbClr val="FFE6CC"/>
          </a:solidFill>
          <a:ln w="12700">
            <a:solidFill>
              <a:srgbClr val="D79B00"/>
            </a:solidFill>
            <a:prstDash val="solid"/>
          </a:ln>
        </p:spPr>
      </p:sp>
      <p:sp>
        <p:nvSpPr>
          <p:cNvPr id="20" name="Text 17"/>
          <p:cNvSpPr/>
          <p:nvPr/>
        </p:nvSpPr>
        <p:spPr>
          <a:xfrm>
            <a:off x="777240" y="6053328"/>
            <a:ext cx="10058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Message broker</a:t>
            </a:r>
            <a:endParaRPr lang="en-US" sz="1000" dirty="0"/>
          </a:p>
        </p:txBody>
      </p:sp>
      <p:sp>
        <p:nvSpPr>
          <p:cNvPr id="21" name="Shape 18"/>
          <p:cNvSpPr/>
          <p:nvPr/>
        </p:nvSpPr>
        <p:spPr>
          <a:xfrm>
            <a:off x="2011680" y="6108192"/>
            <a:ext cx="292608" cy="146304"/>
          </a:xfrm>
          <a:prstGeom prst="rect">
            <a:avLst/>
          </a:prstGeom>
          <a:solidFill>
            <a:srgbClr val="F5F5F5"/>
          </a:solidFill>
          <a:ln w="12700">
            <a:solidFill>
              <a:srgbClr val="666666"/>
            </a:solidFill>
            <a:prstDash val="dash"/>
          </a:ln>
        </p:spPr>
      </p:sp>
      <p:sp>
        <p:nvSpPr>
          <p:cNvPr id="22" name="Text 19"/>
          <p:cNvSpPr/>
          <p:nvPr/>
        </p:nvSpPr>
        <p:spPr>
          <a:xfrm>
            <a:off x="2377440" y="6053328"/>
            <a:ext cx="107442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External system</a:t>
            </a:r>
            <a:endParaRPr lang="en-US" sz="1000" dirty="0"/>
          </a:p>
        </p:txBody>
      </p:sp>
      <p:sp>
        <p:nvSpPr>
          <p:cNvPr id="23" name="Shape 20"/>
          <p:cNvSpPr/>
          <p:nvPr/>
        </p:nvSpPr>
        <p:spPr>
          <a:xfrm>
            <a:off x="3680460" y="6181344"/>
            <a:ext cx="320040" cy="0"/>
          </a:xfrm>
          <a:prstGeom prst="line">
            <a:avLst/>
          </a:prstGeom>
          <a:noFill/>
          <a:ln w="25400">
            <a:solidFill>
              <a:srgbClr val="7B1FA2"/>
            </a:solidFill>
            <a:prstDash val="solid"/>
            <a:tailEnd type="triangle"/>
          </a:ln>
        </p:spPr>
      </p:sp>
      <p:sp>
        <p:nvSpPr>
          <p:cNvPr id="24" name="Text 21"/>
          <p:cNvSpPr/>
          <p:nvPr/>
        </p:nvSpPr>
        <p:spPr>
          <a:xfrm>
            <a:off x="4046220" y="6053328"/>
            <a:ext cx="10058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Authentication</a:t>
            </a:r>
            <a:endParaRPr lang="en-US" sz="1000" dirty="0"/>
          </a:p>
        </p:txBody>
      </p:sp>
      <p:sp>
        <p:nvSpPr>
          <p:cNvPr id="25" name="Shape 22"/>
          <p:cNvSpPr/>
          <p:nvPr/>
        </p:nvSpPr>
        <p:spPr>
          <a:xfrm>
            <a:off x="5280660" y="6181344"/>
            <a:ext cx="320040" cy="0"/>
          </a:xfrm>
          <a:prstGeom prst="line">
            <a:avLst/>
          </a:prstGeom>
          <a:noFill/>
          <a:ln w="25400">
            <a:solidFill>
              <a:srgbClr val="1A73E8"/>
            </a:solidFill>
            <a:prstDash val="solid"/>
            <a:tailEnd type="triangle"/>
          </a:ln>
        </p:spPr>
      </p:sp>
      <p:sp>
        <p:nvSpPr>
          <p:cNvPr id="26" name="Text 23"/>
          <p:cNvSpPr/>
          <p:nvPr/>
        </p:nvSpPr>
        <p:spPr>
          <a:xfrm>
            <a:off x="5646420" y="6053328"/>
            <a:ext cx="66294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Sync call</a:t>
            </a:r>
            <a:endParaRPr lang="en-US" sz="1000" dirty="0"/>
          </a:p>
        </p:txBody>
      </p:sp>
      <p:sp>
        <p:nvSpPr>
          <p:cNvPr id="27" name="Shape 24"/>
          <p:cNvSpPr/>
          <p:nvPr/>
        </p:nvSpPr>
        <p:spPr>
          <a:xfrm>
            <a:off x="6537960" y="6181344"/>
            <a:ext cx="320040" cy="0"/>
          </a:xfrm>
          <a:prstGeom prst="line">
            <a:avLst/>
          </a:prstGeom>
          <a:noFill/>
          <a:ln w="25400">
            <a:solidFill>
              <a:srgbClr val="E8A400"/>
            </a:solidFill>
            <a:prstDash val="dash"/>
            <a:tailEnd type="triangle"/>
          </a:ln>
        </p:spPr>
      </p:sp>
      <p:sp>
        <p:nvSpPr>
          <p:cNvPr id="28" name="Text 25"/>
          <p:cNvSpPr/>
          <p:nvPr/>
        </p:nvSpPr>
        <p:spPr>
          <a:xfrm>
            <a:off x="6903720" y="6053328"/>
            <a:ext cx="80010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Async event</a:t>
            </a:r>
            <a:endParaRPr lang="en-US" sz="1000" dirty="0"/>
          </a:p>
        </p:txBody>
      </p:sp>
      <p:sp>
        <p:nvSpPr>
          <p:cNvPr id="29" name="Shape 26"/>
          <p:cNvSpPr/>
          <p:nvPr/>
        </p:nvSpPr>
        <p:spPr>
          <a:xfrm>
            <a:off x="7932420" y="6181344"/>
            <a:ext cx="320040" cy="0"/>
          </a:xfrm>
          <a:prstGeom prst="line">
            <a:avLst/>
          </a:prstGeom>
          <a:noFill/>
          <a:ln w="25400">
            <a:solidFill>
              <a:srgbClr val="00897B"/>
            </a:solidFill>
            <a:prstDash val="solid"/>
            <a:tailEnd type="triangle"/>
          </a:ln>
        </p:spPr>
      </p:sp>
      <p:sp>
        <p:nvSpPr>
          <p:cNvPr id="30" name="Text 27"/>
          <p:cNvSpPr/>
          <p:nvPr/>
        </p:nvSpPr>
        <p:spPr>
          <a:xfrm>
            <a:off x="8298180" y="6053328"/>
            <a:ext cx="80010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Data access</a:t>
            </a:r>
            <a:endParaRPr lang="en-US" sz="1000" dirty="0"/>
          </a:p>
        </p:txBody>
      </p:sp>
      <p:sp>
        <p:nvSpPr>
          <p:cNvPr id="31" name="Shape 28"/>
          <p:cNvSpPr/>
          <p:nvPr/>
        </p:nvSpPr>
        <p:spPr>
          <a:xfrm>
            <a:off x="9326880" y="6181344"/>
            <a:ext cx="320040" cy="0"/>
          </a:xfrm>
          <a:prstGeom prst="line">
            <a:avLst/>
          </a:prstGeom>
          <a:noFill/>
          <a:ln w="25400">
            <a:solidFill>
              <a:srgbClr val="7F7F7F"/>
            </a:solidFill>
            <a:prstDash val="dash"/>
            <a:tailEnd type="triangle"/>
          </a:ln>
        </p:spPr>
      </p:sp>
      <p:sp>
        <p:nvSpPr>
          <p:cNvPr id="32" name="Text 29"/>
          <p:cNvSpPr/>
          <p:nvPr/>
        </p:nvSpPr>
        <p:spPr>
          <a:xfrm>
            <a:off x="9692640" y="6053328"/>
            <a:ext cx="937260" cy="25603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External call</a:t>
            </a:r>
            <a:endParaRPr lang="en-US" sz="1000" dirty="0"/>
          </a:p>
        </p:txBody>
      </p:sp>
      <p:sp>
        <p:nvSpPr>
          <p:cNvPr id="25" name="Slide Number Placeholder 0"/>
          <p:cNvSpPr>
            <a:spLocks noGrp="1"/>
          </p:cNvSpPr>
          <p:nvPr>
            <p:ph type="sldNum" sz="quarter" idx="4294967295"/>
          </p:nvPr>
        </p:nvSpPr>
        <p:spPr>
          <a:xfrm>
            <a:off x="11368735"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p:nvPr/>
        </p:nvSpPr>
        <p:spPr>
          <a:xfrm>
            <a:off x="411480" y="182880"/>
            <a:ext cx="11368735" cy="548640"/>
          </a:xfrm>
          <a:prstGeom prst="rect">
            <a:avLst/>
          </a:prstGeom>
          <a:noFill/>
          <a:ln/>
        </p:spPr>
        <p:txBody>
          <a:bodyPr wrap="square" lIns="0" tIns="0" rIns="0" bIns="0" rtlCol="0" anchor="ctr"/>
          <a:lstStyle/>
          <a:p>
            <a:pPr indent="0" marL="0">
              <a:buNone/>
            </a:pPr>
            <a:r>
              <a:rPr lang="en-US" sz="2800" b="1" dirty="0">
                <a:solidFill>
                  <a:srgbClr val="1F3A68"/>
                </a:solidFill>
                <a:latin typeface="Calibri" pitchFamily="34" charset="0"/>
                <a:ea typeface="Calibri" pitchFamily="34" charset="-122"/>
                <a:cs typeface="Calibri" pitchFamily="34" charset="-120"/>
              </a:rPr>
              <a:t>Technology stack</a:t>
            </a:r>
            <a:endParaRPr lang="en-US" sz="2800" dirty="0"/>
          </a:p>
        </p:txBody>
      </p:sp>
      <p:sp>
        <p:nvSpPr>
          <p:cNvPr id="3" name="Message"/>
          <p:cNvSpPr/>
          <p:nvPr/>
        </p:nvSpPr>
        <p:spPr>
          <a:xfrm>
            <a:off x="411480" y="731520"/>
            <a:ext cx="11368735" cy="320040"/>
          </a:xfrm>
          <a:prstGeom prst="rect">
            <a:avLst/>
          </a:prstGeom>
          <a:noFill/>
          <a:ln/>
        </p:spPr>
        <p:txBody>
          <a:bodyPr wrap="square" lIns="0" tIns="0" rIns="0" bIns="0" rtlCol="0" anchor="ctr"/>
          <a:lstStyle/>
          <a:p>
            <a:pPr indent="0" marL="0">
              <a:buNone/>
            </a:pPr>
            <a:r>
              <a:rPr lang="en-US" sz="1500" dirty="0">
                <a:solidFill>
                  <a:srgbClr val="5A6478"/>
                </a:solidFill>
                <a:latin typeface="Calibri" pitchFamily="34" charset="0"/>
                <a:ea typeface="Calibri" pitchFamily="34" charset="-122"/>
                <a:cs typeface="Calibri" pitchFamily="34" charset="-120"/>
              </a:rPr>
              <a:t>Managed AWS services and one main language, chosen for the saga, the outbox and the Monday peak</a:t>
            </a:r>
            <a:endParaRPr lang="en-US" sz="15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11368735" cy="914400"/>
        </p:xfrm>
        <a:graphic>
          <a:graphicData uri="http://schemas.openxmlformats.org/drawingml/2006/table">
            <a:tbl>
              <a:tblPr/>
              <a:tblGrid>
                <a:gridCol w="2210587"/>
                <a:gridCol w="4105377"/>
                <a:gridCol w="5052771"/>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Layer</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1F3A6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Choice</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1F3A6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Why</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1F3A68"/>
                    </a:solidFill>
                  </a:tcPr>
                </a:tc>
              </a:tr>
              <a:tr h="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Clients</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React and React Native with TypeScript</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One team owns patient web, mobile and the staff portal</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Edge</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4F6FC"/>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Route 53, CloudFront, WAF and API Gateway</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4F6FC"/>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Managed entry point with web and mobile routes</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4F6FC"/>
                    </a:solidFill>
                  </a:tcPr>
                </a:tc>
              </a:tr>
              <a:tr h="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Services and API</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Java and Spring Boot; REST with OpenAPI</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Libraries for transactions, resilience and tracing; contract-first</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Messaging</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4F6FC"/>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SNS FIFO and SQS FIFO with dead-letter queues</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4F6FC"/>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Ordered per appointment; no brokers to run</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4F6FC"/>
                    </a:solidFill>
                  </a:tcPr>
                </a:tc>
              </a:tr>
              <a:tr h="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Data</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Aurora PostgreSQL per service, ElastiCache, OpenSearch, S3</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Transactions, cache, search and documents, all managed</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Compute</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4F6FC"/>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ECS on Fargate with auto scaling</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4F6FC"/>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No cluster to operate; scales for the Monday peak</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4F6FC"/>
                    </a:solidFill>
                  </a:tcPr>
                </a:tc>
              </a:tr>
              <a:tr h="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Observability</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OpenTelemetry, X-Ray and CloudWatch</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Managed tracing, metrics, logs and alarms</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Security</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4F6FC"/>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Cognito, corporate identity federation, Secrets Manager</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4F6FC"/>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Zero trust with managed identity and secrets</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4F6FC"/>
                    </a:solidFill>
                  </a:tcPr>
                </a:tc>
              </a:tr>
            </a:tbl>
          </a:graphicData>
        </a:graphic>
      </p:graphicFrame>
      <p:sp>
        <p:nvSpPr>
          <p:cNvPr id="25" name="Slide Number Placeholder 0"/>
          <p:cNvSpPr>
            <a:spLocks noGrp="1"/>
          </p:cNvSpPr>
          <p:nvPr>
            <p:ph type="sldNum" sz="quarter" idx="4294967295"/>
          </p:nvPr>
        </p:nvSpPr>
        <p:spPr>
          <a:xfrm>
            <a:off x="11368735"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p:cNvSpPr/>
          <p:nvPr/>
        </p:nvSpPr>
        <p:spPr>
          <a:xfrm>
            <a:off x="411480" y="182880"/>
            <a:ext cx="11368735" cy="548640"/>
          </a:xfrm>
          <a:prstGeom prst="rect">
            <a:avLst/>
          </a:prstGeom>
          <a:noFill/>
          <a:ln/>
        </p:spPr>
        <p:txBody>
          <a:bodyPr wrap="square" lIns="0" tIns="0" rIns="0" bIns="0" rtlCol="0" anchor="ctr"/>
          <a:lstStyle/>
          <a:p>
            <a:pPr indent="0" marL="0">
              <a:buNone/>
            </a:pPr>
            <a:r>
              <a:rPr lang="en-US" sz="2800" b="1" dirty="0">
                <a:solidFill>
                  <a:srgbClr val="1F3A68"/>
                </a:solidFill>
                <a:latin typeface="Calibri" pitchFamily="34" charset="0"/>
                <a:ea typeface="Calibri" pitchFamily="34" charset="-122"/>
                <a:cs typeface="Calibri" pitchFamily="34" charset="-120"/>
              </a:rPr>
              <a:t>Architecture decisions</a:t>
            </a:r>
            <a:endParaRPr lang="en-US" sz="2800" dirty="0"/>
          </a:p>
        </p:txBody>
      </p:sp>
      <p:sp>
        <p:nvSpPr>
          <p:cNvPr id="3" name="Message"/>
          <p:cNvSpPr/>
          <p:nvPr/>
        </p:nvSpPr>
        <p:spPr>
          <a:xfrm>
            <a:off x="411480" y="731520"/>
            <a:ext cx="11368735" cy="320040"/>
          </a:xfrm>
          <a:prstGeom prst="rect">
            <a:avLst/>
          </a:prstGeom>
          <a:noFill/>
          <a:ln/>
        </p:spPr>
        <p:txBody>
          <a:bodyPr wrap="square" lIns="0" tIns="0" rIns="0" bIns="0" rtlCol="0" anchor="ctr"/>
          <a:lstStyle/>
          <a:p>
            <a:pPr indent="0" marL="0">
              <a:buNone/>
            </a:pPr>
            <a:r>
              <a:rPr lang="en-US" sz="1500" dirty="0">
                <a:solidFill>
                  <a:srgbClr val="5A6478"/>
                </a:solidFill>
                <a:latin typeface="Calibri" pitchFamily="34" charset="0"/>
                <a:ea typeface="Calibri" pitchFamily="34" charset="-122"/>
                <a:cs typeface="Calibri" pitchFamily="34" charset="-120"/>
              </a:rPr>
              <a:t>Seven decisions shape the design; each one has a trade-off we accept</a:t>
            </a:r>
            <a:endParaRPr lang="en-US" sz="1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11368735" cy="914400"/>
        </p:xfrm>
        <a:graphic>
          <a:graphicData uri="http://schemas.openxmlformats.org/drawingml/2006/table">
            <a:tbl>
              <a:tblPr/>
              <a:tblGrid>
                <a:gridCol w="3994420"/>
                <a:gridCol w="3687157"/>
                <a:gridCol w="3687157"/>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Decision</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1F3A6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Alternatives</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1F3A6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Trade-off</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1F3A68"/>
                    </a:solidFill>
                  </a:tcPr>
                </a:tc>
              </a:tr>
              <a:tr h="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One service per subdomain</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One modular deployable; a service per aggregate</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More services to run, deploy and monitor</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Slots held and committed by the scheduling service</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4F6FC"/>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Lock rows in a shared database; optimistic booking</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4F6FC"/>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A hold can expire while the patient pays</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4F6FC"/>
                    </a:solidFill>
                  </a:tcPr>
                </a:tc>
              </a:tr>
              <a:tr h="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Orchestrated booking saga</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Choreography with events only</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The appointment service becomes a central component</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Outbox and idempotency keys</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4F6FC"/>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Two-phase commit; dual writes</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4F6FC"/>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Eventual consistency; consumers must deduplicate</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4F6FC"/>
                    </a:solidFill>
                  </a:tcPr>
                </a:tc>
              </a:tr>
              <a:tr h="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One API gateway with web and mobile routes</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Clients calling services directly; a GraphQL layer</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No response composition at the edge</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Isolate partner calls</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4F6FC"/>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Synchronous calls without protection</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4F6FC"/>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More code paths and tuning per partner</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4F6FC"/>
                    </a:solidFill>
                  </a:tcPr>
                </a:tc>
              </a:tr>
              <a:tr h="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Event-driven reminders</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Reminders sent by staff; a nightly batch export</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Another service to run</a:t>
                      </a:r>
                      <a:endParaRPr lang="en-US" sz="1300" dirty="0">
                        <a:latin typeface="Calibri" charset="0"/>
                        <a:ea typeface="Calibri" charset="0"/>
                        <a:cs typeface="Calibri" charset="0"/>
                      </a:endParaRPr>
                    </a:p>
                  </a:txBody>
                  <a:tcPr marL="73152" marR="73152" marT="73152" marB="73152" anchor="t">
                    <a:lnL w="6350" cap="flat" cmpd="sng" algn="ctr">
                      <a:solidFill>
                        <a:srgbClr val="DFE3EE"/>
                      </a:solidFill>
                      <a:prstDash val="solid"/>
                      <a:round/>
                      <a:headEnd type="none" w="med" len="med"/>
                      <a:tailEnd type="none" w="med" len="med"/>
                    </a:lnL>
                    <a:lnR w="6350" cap="flat" cmpd="sng" algn="ctr">
                      <a:solidFill>
                        <a:srgbClr val="DFE3EE"/>
                      </a:solidFill>
                      <a:prstDash val="solid"/>
                      <a:round/>
                      <a:headEnd type="none" w="med" len="med"/>
                      <a:tailEnd type="none" w="med" len="med"/>
                    </a:lnR>
                    <a:lnT w="6350" cap="flat" cmpd="sng" algn="ctr">
                      <a:solidFill>
                        <a:srgbClr val="DFE3EE"/>
                      </a:solidFill>
                      <a:prstDash val="solid"/>
                      <a:round/>
                      <a:headEnd type="none" w="med" len="med"/>
                      <a:tailEnd type="none" w="med" len="med"/>
                    </a:lnT>
                    <a:lnB w="6350" cap="flat" cmpd="sng" algn="ctr">
                      <a:solidFill>
                        <a:srgbClr val="DFE3E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68735"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tle"/>
          <p:cNvSpPr/>
          <p:nvPr/>
        </p:nvSpPr>
        <p:spPr>
          <a:xfrm>
            <a:off x="411480" y="182880"/>
            <a:ext cx="11368735" cy="548640"/>
          </a:xfrm>
          <a:prstGeom prst="rect">
            <a:avLst/>
          </a:prstGeom>
          <a:noFill/>
          <a:ln/>
        </p:spPr>
        <p:txBody>
          <a:bodyPr wrap="square" lIns="0" tIns="0" rIns="0" bIns="0" rtlCol="0" anchor="ctr"/>
          <a:lstStyle/>
          <a:p>
            <a:pPr indent="0" marL="0">
              <a:buNone/>
            </a:pPr>
            <a:r>
              <a:rPr lang="en-US" sz="2800" b="1" dirty="0">
                <a:solidFill>
                  <a:srgbClr val="1F3A68"/>
                </a:solidFill>
                <a:latin typeface="Calibri" pitchFamily="34" charset="0"/>
                <a:ea typeface="Calibri" pitchFamily="34" charset="-122"/>
                <a:cs typeface="Calibri" pitchFamily="34" charset="-120"/>
              </a:rPr>
              <a:t>Questions</a:t>
            </a:r>
            <a:endParaRPr lang="en-US" sz="2800" dirty="0"/>
          </a:p>
        </p:txBody>
      </p:sp>
      <p:sp>
        <p:nvSpPr>
          <p:cNvPr id="3" name="Message"/>
          <p:cNvSpPr/>
          <p:nvPr/>
        </p:nvSpPr>
        <p:spPr>
          <a:xfrm>
            <a:off x="411480" y="731520"/>
            <a:ext cx="11368735" cy="320040"/>
          </a:xfrm>
          <a:prstGeom prst="rect">
            <a:avLst/>
          </a:prstGeom>
          <a:noFill/>
          <a:ln/>
        </p:spPr>
        <p:txBody>
          <a:bodyPr wrap="square" lIns="0" tIns="0" rIns="0" bIns="0" rtlCol="0" anchor="ctr"/>
          <a:lstStyle/>
          <a:p>
            <a:pPr indent="0" marL="0">
              <a:buNone/>
            </a:pPr>
            <a:r>
              <a:rPr lang="en-US" sz="1500" dirty="0">
                <a:solidFill>
                  <a:srgbClr val="5A6478"/>
                </a:solidFill>
                <a:latin typeface="Calibri" pitchFamily="34" charset="0"/>
                <a:ea typeface="Calibri" pitchFamily="34" charset="-122"/>
                <a:cs typeface="Calibri" pitchFamily="34" charset="-120"/>
              </a:rPr>
              <a:t>Thank you</a:t>
            </a:r>
            <a:endParaRPr lang="en-US" sz="1500" dirty="0"/>
          </a:p>
        </p:txBody>
      </p:sp>
      <p:sp>
        <p:nvSpPr>
          <p:cNvPr id="25" name="Slide Number Placeholder 0"/>
          <p:cNvSpPr>
            <a:spLocks noGrp="1"/>
          </p:cNvSpPr>
          <p:nvPr>
            <p:ph type="sldNum" sz="quarter" idx="4294967295"/>
          </p:nvPr>
        </p:nvSpPr>
        <p:spPr>
          <a:xfrm>
            <a:off x="11368735"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 booking platform</dc:title>
  <dc:subject>PptxGenJS Presentation</dc:subject>
  <dc:creator>Solution architect</dc:creator>
  <cp:lastModifiedBy>Solution architect</cp:lastModifiedBy>
  <cp:revision>1</cp:revision>
  <dcterms:created xsi:type="dcterms:W3CDTF">2026-10-16T15:57:59Z</dcterms:created>
  <dcterms:modified xsi:type="dcterms:W3CDTF">2026-10-16T15:57:59Z</dcterms:modified>
</cp:coreProperties>
</file>